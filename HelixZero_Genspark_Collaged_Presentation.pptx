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2926080" cy="256032"/>
          </a:xfrm>
          <a:prstGeom prst="roundRect">
            <a:avLst/>
          </a:prstGeom>
          <a:solidFill>
            <a:srgbClr val="0D1626"/>
          </a:solidFill>
          <a:ln w="12700">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850" b="1">
                <a:solidFill>
                  <a:srgbClr val="0EA5E9"/>
                </a:solidFill>
              </a:defRPr>
            </a:pPr>
            <a:r>
              <a:t>IEEE TNNLS 2026 · MANUSCRIPT SUBMISSION</a:t>
            </a:r>
          </a:p>
        </p:txBody>
      </p:sp>
      <p:sp>
        <p:nvSpPr>
          <p:cNvPr id="4" name="TextBox 3"/>
          <p:cNvSpPr txBox="1"/>
          <p:nvPr/>
        </p:nvSpPr>
        <p:spPr>
          <a:xfrm>
            <a:off x="731520" y="1051560"/>
            <a:ext cx="7315200" cy="274320"/>
          </a:xfrm>
          <a:prstGeom prst="rect">
            <a:avLst/>
          </a:prstGeom>
          <a:noFill/>
        </p:spPr>
        <p:txBody>
          <a:bodyPr wrap="none">
            <a:spAutoFit/>
          </a:bodyPr>
          <a:lstStyle/>
          <a:p>
            <a:pPr>
              <a:defRPr sz="1000" b="1">
                <a:solidFill>
                  <a:srgbClr val="94A3B8"/>
                </a:solidFill>
              </a:defRPr>
            </a:pPr>
            <a:r>
              <a:t>RNAI THERAPEUTICS · COMPUTATIONAL DESIGN · MACHINE LEARNING</a:t>
            </a:r>
          </a:p>
        </p:txBody>
      </p:sp>
      <p:sp>
        <p:nvSpPr>
          <p:cNvPr id="5" name="TextBox 4"/>
          <p:cNvSpPr txBox="1"/>
          <p:nvPr/>
        </p:nvSpPr>
        <p:spPr>
          <a:xfrm>
            <a:off x="731520" y="1371600"/>
            <a:ext cx="7315200" cy="1188720"/>
          </a:xfrm>
          <a:prstGeom prst="rect">
            <a:avLst/>
          </a:prstGeom>
          <a:noFill/>
        </p:spPr>
        <p:txBody>
          <a:bodyPr wrap="none">
            <a:spAutoFit/>
          </a:bodyPr>
          <a:lstStyle/>
          <a:p>
            <a:r>
              <a:rPr sz="6400" b="1">
                <a:solidFill>
                  <a:srgbClr val="F8FAFC"/>
                </a:solidFill>
              </a:rPr>
              <a:t>Helix</a:t>
            </a:r>
            <a:r>
              <a:rPr sz="6400" b="1">
                <a:solidFill>
                  <a:srgbClr val="0EA5E9"/>
                </a:solidFill>
              </a:rPr>
              <a:t>Zero</a:t>
            </a:r>
          </a:p>
        </p:txBody>
      </p:sp>
      <p:sp>
        <p:nvSpPr>
          <p:cNvPr id="6" name="TextBox 5"/>
          <p:cNvSpPr txBox="1"/>
          <p:nvPr/>
        </p:nvSpPr>
        <p:spPr>
          <a:xfrm>
            <a:off x="731520" y="2743200"/>
            <a:ext cx="6858000" cy="640080"/>
          </a:xfrm>
          <a:prstGeom prst="rect">
            <a:avLst/>
          </a:prstGeom>
          <a:noFill/>
        </p:spPr>
        <p:txBody>
          <a:bodyPr wrap="none">
            <a:spAutoFit/>
          </a:bodyPr>
          <a:lstStyle/>
          <a:p>
            <a:pPr>
              <a:defRPr sz="1600" b="1">
                <a:solidFill>
                  <a:srgbClr val="F8FAFC"/>
                </a:solidFill>
              </a:defRPr>
            </a:pPr>
            <a:r>
              <a:t>End-to-End Computational Screening and Structure-Guided Optimization of Therapeutic siRNAs</a:t>
            </a:r>
          </a:p>
        </p:txBody>
      </p:sp>
      <p:sp>
        <p:nvSpPr>
          <p:cNvPr id="7" name="TextBox 6"/>
          <p:cNvSpPr txBox="1"/>
          <p:nvPr/>
        </p:nvSpPr>
        <p:spPr>
          <a:xfrm>
            <a:off x="731520" y="3429000"/>
            <a:ext cx="6858000" cy="548640"/>
          </a:xfrm>
          <a:prstGeom prst="rect">
            <a:avLst/>
          </a:prstGeom>
          <a:noFill/>
        </p:spPr>
        <p:txBody>
          <a:bodyPr wrap="none">
            <a:spAutoFit/>
          </a:bodyPr>
          <a:lstStyle/>
          <a:p>
            <a:pPr>
              <a:defRPr sz="1100">
                <a:solidFill>
                  <a:srgbClr val="CBD5E1"/>
                </a:solidFill>
              </a:defRPr>
            </a:pPr>
            <a:r>
              <a:t>A tripartite ML framework combining multi-modal chemical ontologies, dose-aware potency prediction, and 3D Argonaute-2 structural validation.</a:t>
            </a:r>
          </a:p>
        </p:txBody>
      </p:sp>
      <p:sp>
        <p:nvSpPr>
          <p:cNvPr id="8" name="TextBox 7"/>
          <p:cNvSpPr txBox="1"/>
          <p:nvPr/>
        </p:nvSpPr>
        <p:spPr>
          <a:xfrm>
            <a:off x="731520" y="4297680"/>
            <a:ext cx="6858000" cy="731520"/>
          </a:xfrm>
          <a:prstGeom prst="rect">
            <a:avLst/>
          </a:prstGeom>
          <a:noFill/>
        </p:spPr>
        <p:txBody>
          <a:bodyPr wrap="none">
            <a:spAutoFit/>
          </a:bodyPr>
          <a:lstStyle/>
          <a:p>
            <a:pPr>
              <a:defRPr sz="1400" b="1">
                <a:solidFill>
                  <a:srgbClr val="F8FAFC"/>
                </a:solidFill>
              </a:defRPr>
            </a:pPr>
            <a:r>
              <a:t>Nitin Jadhav</a:t>
            </a:r>
          </a:p>
          <a:p>
            <a:pPr>
              <a:defRPr sz="1050">
                <a:solidFill>
                  <a:srgbClr val="94A3B8"/>
                </a:solidFill>
              </a:defRPr>
            </a:pPr>
            <a:r>
              <a:t>CDAC, Pune · Independent Research</a:t>
            </a:r>
          </a:p>
        </p:txBody>
      </p:sp>
      <p:sp>
        <p:nvSpPr>
          <p:cNvPr id="9" name="Rounded Rectangle 8"/>
          <p:cNvSpPr/>
          <p:nvPr/>
        </p:nvSpPr>
        <p:spPr>
          <a:xfrm>
            <a:off x="731520" y="5303520"/>
            <a:ext cx="3200400" cy="8229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50" b="1">
                <a:solidFill>
                  <a:srgbClr val="0EA5E9"/>
                </a:solidFill>
              </a:defRPr>
            </a:pPr>
            <a:r>
              <a:t>SCOPE</a:t>
            </a:r>
          </a:p>
          <a:p>
            <a:pPr>
              <a:defRPr sz="1100">
                <a:solidFill>
                  <a:srgbClr val="F8FAFC"/>
                </a:solidFill>
              </a:defRPr>
            </a:pPr>
            <a:r>
              <a:t>40,255 assays · 3,535 duplexes</a:t>
            </a:r>
          </a:p>
        </p:txBody>
      </p:sp>
      <p:sp>
        <p:nvSpPr>
          <p:cNvPr id="10" name="Rounded Rectangle 9"/>
          <p:cNvSpPr/>
          <p:nvPr/>
        </p:nvSpPr>
        <p:spPr>
          <a:xfrm>
            <a:off x="4206240" y="5303520"/>
            <a:ext cx="3200400" cy="8229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50" b="1">
                <a:solidFill>
                  <a:srgbClr val="0EA5E9"/>
                </a:solidFill>
              </a:defRPr>
            </a:pPr>
            <a:r>
              <a:t>VALIDATION</a:t>
            </a:r>
          </a:p>
          <a:p>
            <a:pPr>
              <a:defRPr sz="1100">
                <a:solidFill>
                  <a:srgbClr val="F8FAFC"/>
                </a:solidFill>
              </a:defRPr>
            </a:pPr>
            <a:r>
              <a:t>FDA drugs · 0.83–2.24 nM potency</a:t>
            </a:r>
          </a:p>
        </p:txBody>
      </p:sp>
      <p:sp>
        <p:nvSpPr>
          <p:cNvPr id="11" name="Rounded Rectangle 10"/>
          <p:cNvSpPr/>
          <p:nvPr/>
        </p:nvSpPr>
        <p:spPr>
          <a:xfrm>
            <a:off x="7680960" y="5303520"/>
            <a:ext cx="3749039" cy="8229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50" b="1">
                <a:solidFill>
                  <a:srgbClr val="0EA5E9"/>
                </a:solidFill>
              </a:defRPr>
            </a:pPr>
            <a:r>
              <a:t>CODE</a:t>
            </a:r>
          </a:p>
          <a:p>
            <a:pPr>
              <a:defRPr sz="1100">
                <a:solidFill>
                  <a:srgbClr val="F8FAFC"/>
                </a:solidFill>
              </a:defRPr>
            </a:pPr>
            <a:r>
              <a:t>nitinjadhav888/Helixzerocms-CDAC</a:t>
            </a:r>
          </a:p>
        </p:txBody>
      </p:sp>
      <p:sp>
        <p:nvSpPr>
          <p:cNvPr id="12" name="Oval 11"/>
          <p:cNvSpPr/>
          <p:nvPr/>
        </p:nvSpPr>
        <p:spPr>
          <a:xfrm>
            <a:off x="7772400" y="1463040"/>
            <a:ext cx="3840480" cy="3840480"/>
          </a:xfrm>
          <a:prstGeom prst="ellipse">
            <a:avLst/>
          </a:prstGeom>
          <a:noFill/>
          <a:ln w="19050">
            <a:solidFill>
              <a:srgbClr val="102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EXECUTIVE OVERVIEW</a:t>
            </a:r>
          </a:p>
        </p:txBody>
      </p:sp>
      <p:sp>
        <p:nvSpPr>
          <p:cNvPr id="4" name="TextBox 3"/>
          <p:cNvSpPr txBox="1"/>
          <p:nvPr/>
        </p:nvSpPr>
        <p:spPr>
          <a:xfrm>
            <a:off x="731520" y="640080"/>
            <a:ext cx="10789920" cy="731520"/>
          </a:xfrm>
          <a:prstGeom prst="rect">
            <a:avLst/>
          </a:prstGeom>
          <a:noFill/>
        </p:spPr>
        <p:txBody>
          <a:bodyPr wrap="none">
            <a:spAutoFit/>
          </a:bodyPr>
          <a:lstStyle/>
          <a:p>
            <a:r>
              <a:rPr sz="2200" b="1">
                <a:solidFill>
                  <a:srgbClr val="F8FAFC"/>
                </a:solidFill>
              </a:rPr>
              <a:t>From naked sequence heuristics to a </a:t>
            </a:r>
            <a:r>
              <a:rPr sz="2200" b="1">
                <a:solidFill>
                  <a:srgbClr val="0EA5E9"/>
                </a:solidFill>
              </a:rPr>
              <a:t>chemistry-aware</a:t>
            </a:r>
            <a:r>
              <a:rPr sz="2200" b="1">
                <a:solidFill>
                  <a:srgbClr val="F8FAFC"/>
                </a:solidFill>
              </a:rPr>
              <a:t>, dose-aware framework</a:t>
            </a:r>
          </a:p>
        </p:txBody>
      </p:sp>
      <p:sp>
        <p:nvSpPr>
          <p:cNvPr id="5" name="TextBox 4"/>
          <p:cNvSpPr txBox="1"/>
          <p:nvPr/>
        </p:nvSpPr>
        <p:spPr>
          <a:xfrm>
            <a:off x="731520" y="1371600"/>
            <a:ext cx="10789920" cy="365760"/>
          </a:xfrm>
          <a:prstGeom prst="rect">
            <a:avLst/>
          </a:prstGeom>
          <a:noFill/>
        </p:spPr>
        <p:txBody>
          <a:bodyPr wrap="none">
            <a:spAutoFit/>
          </a:bodyPr>
          <a:lstStyle/>
          <a:p>
            <a:pPr>
              <a:defRPr sz="1100">
                <a:solidFill>
                  <a:srgbClr val="CBD5E1"/>
                </a:solidFill>
              </a:defRPr>
            </a:pPr>
            <a:r>
              <a:t>Therapeutic siRNAs are 100% chemically modified. Sequence-only predictors collapse on modified duplexes. HelixZero rebuilds the problem around four orthogonal dimensions.</a:t>
            </a:r>
          </a:p>
        </p:txBody>
      </p:sp>
      <p:sp>
        <p:nvSpPr>
          <p:cNvPr id="6" name="Rounded Rectangle 5"/>
          <p:cNvSpPr/>
          <p:nvPr/>
        </p:nvSpPr>
        <p:spPr>
          <a:xfrm>
            <a:off x="731520" y="1828800"/>
            <a:ext cx="3474720" cy="2651760"/>
          </a:xfrm>
          <a:prstGeom prst="roundRect">
            <a:avLst/>
          </a:prstGeom>
          <a:solidFill>
            <a:srgbClr val="0D1626"/>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182880" tIns="164592" wrap="square"/>
          <a:lstStyle/>
          <a:p>
            <a:pPr algn="ctr">
              <a:defRPr sz="850" b="1">
                <a:solidFill>
                  <a:srgbClr val="F43F5E"/>
                </a:solidFill>
              </a:defRPr>
            </a:pPr>
            <a:r>
              <a:t>01 · CHALLENGE</a:t>
            </a:r>
          </a:p>
          <a:p>
            <a:pPr>
              <a:spcAft>
                <a:spcPts val="800"/>
              </a:spcAft>
              <a:defRPr sz="1300" b="1">
                <a:solidFill>
                  <a:srgbClr val="F8FAFC"/>
                </a:solidFill>
              </a:defRPr>
            </a:pPr>
            <a:r>
              <a:t>The chemistry blind-spot</a:t>
            </a:r>
          </a:p>
          <a:p>
            <a:pPr>
              <a:spcAft>
                <a:spcPts val="1000"/>
              </a:spcAft>
              <a:defRPr sz="950">
                <a:solidFill>
                  <a:srgbClr val="CBD5E1"/>
                </a:solidFill>
              </a:defRPr>
            </a:pPr>
            <a:r>
              <a:t>100% of approved siRNAs are chemically modified (2'-F, 2'-OMe, PS, GalNAc). Sequence-only models reach r = 0.2070 on modified benchmarks — essentially guessing.</a:t>
            </a:r>
          </a:p>
          <a:p>
            <a:pPr>
              <a:defRPr sz="800" i="1">
                <a:solidFill>
                  <a:srgbClr val="94A3B8"/>
                </a:solidFill>
              </a:defRPr>
            </a:pPr>
            <a:r>
              <a:t>A modification at position 14 may help. The same modification at position 9 sterilizes cleavage.</a:t>
            </a:r>
          </a:p>
        </p:txBody>
      </p:sp>
      <p:sp>
        <p:nvSpPr>
          <p:cNvPr id="7" name="Rounded Rectangle 6"/>
          <p:cNvSpPr/>
          <p:nvPr/>
        </p:nvSpPr>
        <p:spPr>
          <a:xfrm>
            <a:off x="4343400" y="1828800"/>
            <a:ext cx="3474720" cy="2651760"/>
          </a:xfrm>
          <a:prstGeom prst="roundRect">
            <a:avLst/>
          </a:prstGeom>
          <a:solidFill>
            <a:srgbClr val="0D1626"/>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lIns="182880" tIns="164592" wrap="square"/>
          <a:lstStyle/>
          <a:p>
            <a:pPr algn="ctr">
              <a:defRPr sz="850" b="1">
                <a:solidFill>
                  <a:srgbClr val="0EA5E9"/>
                </a:solidFill>
              </a:defRPr>
            </a:pPr>
            <a:r>
              <a:t>02 · SOLUTION</a:t>
            </a:r>
          </a:p>
          <a:p>
            <a:pPr>
              <a:spcAft>
                <a:spcPts val="800"/>
              </a:spcAft>
              <a:defRPr sz="1300" b="1">
                <a:solidFill>
                  <a:srgbClr val="F8FAFC"/>
                </a:solidFill>
              </a:defRPr>
            </a:pPr>
            <a:r>
              <a:t>A 577-D multi-modal framework</a:t>
            </a:r>
          </a:p>
          <a:p>
            <a:pPr>
              <a:spcAft>
                <a:spcPts val="1000"/>
              </a:spcAft>
              <a:defRPr sz="950">
                <a:solidFill>
                  <a:srgbClr val="CBD5E1"/>
                </a:solidFill>
              </a:defRPr>
            </a:pPr>
            <a:r>
              <a:t>Orthogonal slot-based chemical ontology decouples sugar, linkage, base, and conjugate states. Combines positional chemistry, RNA foundation models, engineered biophysics, and thermodynamics.</a:t>
            </a:r>
          </a:p>
          <a:p>
            <a:pPr>
              <a:defRPr sz="800" i="1">
                <a:solidFill>
                  <a:srgbClr val="94A3B8"/>
                </a:solidFill>
              </a:defRPr>
            </a:pPr>
            <a:r>
              <a:t>One representation per duplex. One pipeline. Two CatBoost stages. One GNN. One structural filter.</a:t>
            </a:r>
          </a:p>
        </p:txBody>
      </p:sp>
      <p:sp>
        <p:nvSpPr>
          <p:cNvPr id="8" name="Rounded Rectangle 7"/>
          <p:cNvSpPr/>
          <p:nvPr/>
        </p:nvSpPr>
        <p:spPr>
          <a:xfrm>
            <a:off x="7955280" y="1828800"/>
            <a:ext cx="3474720" cy="2651760"/>
          </a:xfrm>
          <a:prstGeom prst="roundRect">
            <a:avLst/>
          </a:prstGeom>
          <a:solidFill>
            <a:srgbClr val="0D1626"/>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182880" tIns="164592" wrap="square"/>
          <a:lstStyle/>
          <a:p>
            <a:pPr algn="ctr">
              <a:defRPr sz="850" b="1">
                <a:solidFill>
                  <a:srgbClr val="14B8A6"/>
                </a:solidFill>
              </a:defRPr>
            </a:pPr>
            <a:r>
              <a:t>03 · IMPACT</a:t>
            </a:r>
          </a:p>
          <a:p>
            <a:pPr>
              <a:spcAft>
                <a:spcPts val="800"/>
              </a:spcAft>
              <a:defRPr sz="1300" b="1">
                <a:solidFill>
                  <a:srgbClr val="F8FAFC"/>
                </a:solidFill>
              </a:defRPr>
            </a:pPr>
            <a:r>
              <a:t>From blind heuristics to clinical predictions</a:t>
            </a:r>
          </a:p>
          <a:p>
            <a:pPr>
              <a:spcAft>
                <a:spcPts val="1000"/>
              </a:spcAft>
              <a:defRPr sz="950">
                <a:solidFill>
                  <a:srgbClr val="CBD5E1"/>
                </a:solidFill>
              </a:defRPr>
            </a:pPr>
            <a:r>
              <a:t>40,255-assay master corpus. Pearson 0.8049 across 5 folds. Sub-nanomolar IC50 recovered on five FDA-approved drugs without fine-tuning.</a:t>
            </a:r>
          </a:p>
          <a:p>
            <a:pPr>
              <a:defRPr sz="800" i="1">
                <a:solidFill>
                  <a:srgbClr val="94A3B8"/>
                </a:solidFill>
              </a:defRPr>
            </a:pPr>
            <a:r>
              <a:t>CAG-driven ANC. Steric filter pre-screens before wet-lab synthesis.</a:t>
            </a:r>
          </a:p>
        </p:txBody>
      </p:sp>
      <p:sp>
        <p:nvSpPr>
          <p:cNvPr id="9" name="TextBox 8"/>
          <p:cNvSpPr txBox="1"/>
          <p:nvPr/>
        </p:nvSpPr>
        <p:spPr>
          <a:xfrm>
            <a:off x="731520" y="4663440"/>
            <a:ext cx="7315200" cy="228600"/>
          </a:xfrm>
          <a:prstGeom prst="rect">
            <a:avLst/>
          </a:prstGeom>
          <a:noFill/>
        </p:spPr>
        <p:txBody>
          <a:bodyPr wrap="none">
            <a:spAutoFit/>
          </a:bodyPr>
          <a:lstStyle/>
          <a:p>
            <a:pPr>
              <a:defRPr sz="850" b="1">
                <a:solidFill>
                  <a:srgbClr val="94A3B8"/>
                </a:solidFill>
              </a:defRPr>
            </a:pPr>
            <a:r>
              <a:t>HEADLINE NUMBERS</a:t>
            </a:r>
          </a:p>
        </p:txBody>
      </p:sp>
      <p:sp>
        <p:nvSpPr>
          <p:cNvPr id="10" name="Rounded Rectangle 9"/>
          <p:cNvSpPr/>
          <p:nvPr/>
        </p:nvSpPr>
        <p:spPr>
          <a:xfrm>
            <a:off x="731520" y="4937760"/>
            <a:ext cx="2560320"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00" b="1">
                <a:solidFill>
                  <a:srgbClr val="94A3B8"/>
                </a:solidFill>
              </a:defRPr>
            </a:pPr>
            <a:r>
              <a:t>5-FOLD PEARSON R</a:t>
            </a:r>
          </a:p>
          <a:p>
            <a:pPr>
              <a:defRPr sz="2000" b="1">
                <a:solidFill>
                  <a:srgbClr val="0EA5E9"/>
                </a:solidFill>
              </a:defRPr>
            </a:pPr>
            <a:r>
              <a:t>0.8049</a:t>
            </a:r>
          </a:p>
          <a:p>
            <a:pPr>
              <a:defRPr sz="850">
                <a:solidFill>
                  <a:srgbClr val="CBD5E1"/>
                </a:solidFill>
              </a:defRPr>
            </a:pPr>
            <a:r>
              <a:t>across 37,946 measured assays</a:t>
            </a:r>
          </a:p>
        </p:txBody>
      </p:sp>
      <p:sp>
        <p:nvSpPr>
          <p:cNvPr id="11" name="Rounded Rectangle 10"/>
          <p:cNvSpPr/>
          <p:nvPr/>
        </p:nvSpPr>
        <p:spPr>
          <a:xfrm>
            <a:off x="3474720" y="4937760"/>
            <a:ext cx="2560320"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00" b="1">
                <a:solidFill>
                  <a:srgbClr val="94A3B8"/>
                </a:solidFill>
              </a:defRPr>
            </a:pPr>
            <a:r>
              <a:t>MASTER CORPUS</a:t>
            </a:r>
          </a:p>
          <a:p>
            <a:pPr>
              <a:defRPr sz="2000" b="1">
                <a:solidFill>
                  <a:srgbClr val="14B8A6"/>
                </a:solidFill>
              </a:defRPr>
            </a:pPr>
            <a:r>
              <a:t>40,255</a:t>
            </a:r>
          </a:p>
          <a:p>
            <a:pPr>
              <a:defRPr sz="850">
                <a:solidFill>
                  <a:srgbClr val="CBD5E1"/>
                </a:solidFill>
              </a:defRPr>
            </a:pPr>
            <a:r>
              <a:t>assays · 3,535 unique duplexes</a:t>
            </a:r>
          </a:p>
        </p:txBody>
      </p:sp>
      <p:sp>
        <p:nvSpPr>
          <p:cNvPr id="12" name="Rounded Rectangle 11"/>
          <p:cNvSpPr/>
          <p:nvPr/>
        </p:nvSpPr>
        <p:spPr>
          <a:xfrm>
            <a:off x="6217920" y="4937760"/>
            <a:ext cx="2560320"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00" b="1">
                <a:solidFill>
                  <a:srgbClr val="94A3B8"/>
                </a:solidFill>
              </a:defRPr>
            </a:pPr>
            <a:r>
              <a:t>FDA PANEL</a:t>
            </a:r>
          </a:p>
          <a:p>
            <a:pPr>
              <a:defRPr sz="2000" b="1">
                <a:solidFill>
                  <a:srgbClr val="A855F7"/>
                </a:solidFill>
              </a:defRPr>
            </a:pPr>
            <a:r>
              <a:t>0.83–2.24 nM</a:t>
            </a:r>
          </a:p>
          <a:p>
            <a:pPr>
              <a:defRPr sz="850">
                <a:solidFill>
                  <a:srgbClr val="CBD5E1"/>
                </a:solidFill>
              </a:defRPr>
            </a:pPr>
            <a:r>
              <a:t>predicted potency, 5 approved drugs</a:t>
            </a:r>
          </a:p>
        </p:txBody>
      </p:sp>
      <p:sp>
        <p:nvSpPr>
          <p:cNvPr id="13" name="Rounded Rectangle 12"/>
          <p:cNvSpPr/>
          <p:nvPr/>
        </p:nvSpPr>
        <p:spPr>
          <a:xfrm>
            <a:off x="8961120" y="4937760"/>
            <a:ext cx="2499055"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00" b="1">
                <a:solidFill>
                  <a:srgbClr val="94A3B8"/>
                </a:solidFill>
              </a:defRPr>
            </a:pPr>
            <a:r>
              <a:t>STRUCTURAL FILTER</a:t>
            </a:r>
          </a:p>
          <a:p>
            <a:pPr>
              <a:defRPr sz="2000" b="1">
                <a:solidFill>
                  <a:srgbClr val="F59E0B"/>
                </a:solidFill>
              </a:defRPr>
            </a:pPr>
            <a:r>
              <a:t>PDB 4W5N</a:t>
            </a:r>
          </a:p>
          <a:p>
            <a:pPr>
              <a:defRPr sz="850">
                <a:solidFill>
                  <a:srgbClr val="CBD5E1"/>
                </a:solidFill>
              </a:defRPr>
            </a:pPr>
            <a:r>
              <a:t>Ago2 3D feasibility pre-screen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F43F5E"/>
                </a:solidFill>
              </a:defRPr>
            </a:pPr>
            <a:r>
              <a:t>// WHY THIS IS HARD</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Therapeutic siRNAs are </a:t>
            </a:r>
            <a:r>
              <a:rPr sz="2400" b="1">
                <a:solidFill>
                  <a:srgbClr val="F43F5E"/>
                </a:solidFill>
              </a:rPr>
              <a:t>not</a:t>
            </a:r>
            <a:r>
              <a:rPr sz="2400" b="1">
                <a:solidFill>
                  <a:srgbClr val="F8FAFC"/>
                </a:solidFill>
              </a:rPr>
              <a:t> naked RNA</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Clinical drugs look nothing like the synthetic 21-mers used to train older algorithms. RNA interference has more knobs to turn than target complementarity.</a:t>
            </a:r>
          </a:p>
        </p:txBody>
      </p:sp>
      <p:sp>
        <p:nvSpPr>
          <p:cNvPr id="6" name="Rounded Rectangle 5"/>
          <p:cNvSpPr/>
          <p:nvPr/>
        </p:nvSpPr>
        <p:spPr>
          <a:xfrm>
            <a:off x="731520" y="1645920"/>
            <a:ext cx="5303520" cy="137160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1100" b="1">
                <a:solidFill>
                  <a:srgbClr val="0EA5E9"/>
                </a:solidFill>
              </a:defRPr>
            </a:pPr>
            <a:r>
              <a:t>1 · 100% of approved siRNAs carry chemical mods</a:t>
            </a:r>
          </a:p>
          <a:p>
            <a:pPr>
              <a:defRPr sz="950">
                <a:solidFill>
                  <a:srgbClr val="CBD5E1"/>
                </a:solidFill>
              </a:defRPr>
            </a:pPr>
            <a:r>
              <a:t>Without 2'-F, 2'-OMe sugar mods and PS backbone linkages, naked RNA is digested in minutes by serum nucleases and triggers innate immune sensors. Clinical drugs lean on these mods to survive dosing schedules.</a:t>
            </a:r>
          </a:p>
        </p:txBody>
      </p:sp>
      <p:sp>
        <p:nvSpPr>
          <p:cNvPr id="7" name="Rounded Rectangle 6"/>
          <p:cNvSpPr/>
          <p:nvPr/>
        </p:nvSpPr>
        <p:spPr>
          <a:xfrm>
            <a:off x="731520" y="3200400"/>
            <a:ext cx="5303520" cy="137160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1100" b="1">
                <a:solidFill>
                  <a:srgbClr val="0EA5E9"/>
                </a:solidFill>
              </a:defRPr>
            </a:pPr>
            <a:r>
              <a:t>2 · Modification rules are positional, not binary</a:t>
            </a:r>
          </a:p>
          <a:p>
            <a:pPr>
              <a:defRPr sz="950">
                <a:solidFill>
                  <a:srgbClr val="CBD5E1"/>
                </a:solidFill>
              </a:defRPr>
            </a:pPr>
            <a:r>
              <a:t>A 2'-F at position 14 boosts cleavage. The same substituent at position 9 collides with the Ago2 catalytic triad. One string-of-letters per nucleotide can't capture this.</a:t>
            </a:r>
          </a:p>
        </p:txBody>
      </p:sp>
      <p:sp>
        <p:nvSpPr>
          <p:cNvPr id="8" name="Rounded Rectangle 7"/>
          <p:cNvSpPr/>
          <p:nvPr/>
        </p:nvSpPr>
        <p:spPr>
          <a:xfrm>
            <a:off x="731520" y="4754880"/>
            <a:ext cx="5303520" cy="137160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1100" b="1">
                <a:solidFill>
                  <a:srgbClr val="0EA5E9"/>
                </a:solidFill>
              </a:defRPr>
            </a:pPr>
            <a:r>
              <a:t>3 · Dose is not potency</a:t>
            </a:r>
          </a:p>
          <a:p>
            <a:pPr>
              <a:defRPr sz="950">
                <a:solidFill>
                  <a:srgbClr val="CBD5E1"/>
                </a:solidFill>
              </a:defRPr>
            </a:pPr>
            <a:r>
              <a:t>A mediocre siRNA at 100 nM gives 90% knockdown. A potent drug at 0.1 nM gives 50%. Without pIC50, benchmarks conflate exposure with molecular quality.</a:t>
            </a:r>
          </a:p>
        </p:txBody>
      </p:sp>
      <p:sp>
        <p:nvSpPr>
          <p:cNvPr id="9" name="Rounded Rectangle 8"/>
          <p:cNvSpPr/>
          <p:nvPr/>
        </p:nvSpPr>
        <p:spPr>
          <a:xfrm>
            <a:off x="6309360" y="1645920"/>
            <a:ext cx="5150815"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228600" tIns="182880" wrap="square"/>
          <a:lstStyle/>
          <a:p>
            <a:pPr algn="ctr">
              <a:defRPr sz="850" b="1">
                <a:solidFill>
                  <a:srgbClr val="94A3B8"/>
                </a:solidFill>
              </a:defRPr>
            </a:pPr>
            <a:r>
              <a:t>A 21-NT DUPLEX · FOUR FUNCTIONAL REGIONS</a:t>
            </a:r>
          </a:p>
          <a:p>
            <a:pPr>
              <a:spcAft>
                <a:spcPts val="1600"/>
              </a:spcAft>
              <a:defRPr sz="1400" b="1">
                <a:solidFill>
                  <a:srgbClr val="F8FAFC"/>
                </a:solidFill>
              </a:defRPr>
            </a:pPr>
            <a:r>
              <a:t>Where the chemistry actually matters</a:t>
            </a:r>
          </a:p>
          <a:p>
            <a:pPr>
              <a:spcAft>
                <a:spcPts val="800"/>
              </a:spcAft>
              <a:defRPr sz="1000">
                <a:solidFill>
                  <a:srgbClr val="0EA5E9"/>
                </a:solidFill>
              </a:defRPr>
            </a:pPr>
            <a:r>
              <a:t>• Position 1 (5'-Monophosphate): Anchors the Ago2 MID pocket (≤4.5 Å) — without it, silencing is abolished.</a:t>
            </a:r>
          </a:p>
          <a:p>
            <a:pPr>
              <a:spcAft>
                <a:spcPts val="800"/>
              </a:spcAft>
              <a:defRPr sz="1000">
                <a:solidFill>
                  <a:srgbClr val="14B8A6"/>
                </a:solidFill>
              </a:defRPr>
            </a:pPr>
            <a:r>
              <a:t>• Positions 2–7 (Seed Region): Rigidification with alternating 2'-OMe and 2'-F enhances target mRNA unzipping.</a:t>
            </a:r>
          </a:p>
          <a:p>
            <a:pPr>
              <a:spcAft>
                <a:spcPts val="800"/>
              </a:spcAft>
              <a:defRPr sz="1000">
                <a:solidFill>
                  <a:srgbClr val="F43F5E"/>
                </a:solidFill>
              </a:defRPr>
            </a:pPr>
            <a:r>
              <a:t>• Positions 9–11 (Cleavage Center): Restrict bulky substituents to preserve catalytic cleavage (Asp669/Glu635/His807).</a:t>
            </a:r>
          </a:p>
          <a:p>
            <a:pPr>
              <a:spcAft>
                <a:spcPts val="1600"/>
              </a:spcAft>
              <a:defRPr sz="1000">
                <a:solidFill>
                  <a:srgbClr val="F59E0B"/>
                </a:solidFill>
              </a:defRPr>
            </a:pPr>
            <a:r>
              <a:t>• 3'-Overhangs: Phosphorothioate (PS) linkages protect against circulating exonucleases.</a:t>
            </a:r>
          </a:p>
          <a:p>
            <a:pPr>
              <a:defRPr sz="1000" i="1">
                <a:solidFill>
                  <a:srgbClr val="94A3B8"/>
                </a:solidFill>
              </a:defRPr>
            </a:pPr>
            <a:r>
              <a:t>Designing clinical siRNAs means reasoning about chemistry, position, dose, and 3D pocket geometry simultaneously.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14B8A6"/>
                </a:solidFill>
              </a:defRPr>
            </a:pPr>
            <a:r>
              <a:t>// METHODOLOGY &amp; PILLARS</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Four </a:t>
            </a:r>
            <a:r>
              <a:rPr sz="2400" b="1">
                <a:solidFill>
                  <a:srgbClr val="0EA5E9"/>
                </a:solidFill>
              </a:rPr>
              <a:t>co-optimized</a:t>
            </a:r>
            <a:r>
              <a:rPr sz="2400" b="1">
                <a:solidFill>
                  <a:srgbClr val="F8FAFC"/>
                </a:solidFill>
              </a:rPr>
              <a:t> dimensions of siRNA efficacy</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HelixZero decouples the problem into four orthogonal engineering pillars. Each does one distinct, verifiable biological job.</a:t>
            </a:r>
          </a:p>
        </p:txBody>
      </p:sp>
      <p:sp>
        <p:nvSpPr>
          <p:cNvPr id="6" name="Rounded Rectangle 5"/>
          <p:cNvSpPr/>
          <p:nvPr/>
        </p:nvSpPr>
        <p:spPr>
          <a:xfrm>
            <a:off x="731520" y="1645920"/>
            <a:ext cx="25603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50" b="1">
                <a:solidFill>
                  <a:srgbClr val="0EA5E9"/>
                </a:solidFill>
              </a:defRPr>
            </a:pPr>
            <a:r>
              <a:t>PILLAR 01</a:t>
            </a:r>
          </a:p>
          <a:p>
            <a:pPr>
              <a:spcAft>
                <a:spcPts val="400"/>
              </a:spcAft>
              <a:defRPr sz="1300" b="1">
                <a:solidFill>
                  <a:srgbClr val="F8FAFC"/>
                </a:solidFill>
              </a:defRPr>
            </a:pPr>
            <a:r>
              <a:t>Sequence screening</a:t>
            </a:r>
          </a:p>
          <a:p>
            <a:pPr>
              <a:spcAft>
                <a:spcPts val="800"/>
              </a:spcAft>
              <a:defRPr sz="850">
                <a:solidFill>
                  <a:srgbClr val="CBD5E1"/>
                </a:solidFill>
              </a:defRPr>
            </a:pPr>
            <a:r>
              <a:t>Target mRNA alignment and isoform specificity across the open reading frame</a:t>
            </a:r>
          </a:p>
          <a:p>
            <a:pPr>
              <a:spcAft>
                <a:spcPts val="200"/>
              </a:spcAft>
              <a:defRPr sz="819">
                <a:solidFill>
                  <a:srgbClr val="CBD5E1"/>
                </a:solidFill>
              </a:defRPr>
            </a:pPr>
            <a:r>
              <a:t>• Thermodynamic asymmetry ΔG_5' - ΔG_3' &lt; 0</a:t>
            </a:r>
          </a:p>
          <a:p>
            <a:pPr>
              <a:spcAft>
                <a:spcPts val="200"/>
              </a:spcAft>
              <a:defRPr sz="819">
                <a:solidFill>
                  <a:srgbClr val="CBD5E1"/>
                </a:solidFill>
              </a:defRPr>
            </a:pPr>
            <a:r>
              <a:t>• Seed fluidity (positions 2–7)</a:t>
            </a:r>
          </a:p>
          <a:p>
            <a:pPr>
              <a:spcAft>
                <a:spcPts val="200"/>
              </a:spcAft>
              <a:defRPr sz="819">
                <a:solidFill>
                  <a:srgbClr val="CBD5E1"/>
                </a:solidFill>
              </a:defRPr>
            </a:pPr>
            <a:r>
              <a:t>• GC clamp balance</a:t>
            </a:r>
          </a:p>
          <a:p>
            <a:pPr>
              <a:spcAft>
                <a:spcPts val="200"/>
              </a:spcAft>
              <a:defRPr sz="819">
                <a:solidFill>
                  <a:srgbClr val="CBD5E1"/>
                </a:solidFill>
              </a:defRPr>
            </a:pPr>
            <a:r>
              <a:t>• Off-target seed cytotoxicity filter (4,096 hexamers)</a:t>
            </a:r>
          </a:p>
          <a:p>
            <a:pPr>
              <a:spcBef>
                <a:spcPts val="1400"/>
              </a:spcBef>
              <a:defRPr sz="800" b="1">
                <a:solidFill>
                  <a:srgbClr val="0EA5E9"/>
                </a:solidFill>
              </a:defRPr>
            </a:pPr>
            <a:r>
              <a:t>WHERE IT WORKS</a:t>
            </a:r>
          </a:p>
          <a:p>
            <a:pPr>
              <a:defRPr sz="850">
                <a:solidFill>
                  <a:srgbClr val="F8FAFC"/>
                </a:solidFill>
              </a:defRPr>
            </a:pPr>
            <a:r>
              <a:t>Naked siRNA triage &amp; fast LightGBM ranking</a:t>
            </a:r>
          </a:p>
        </p:txBody>
      </p:sp>
      <p:sp>
        <p:nvSpPr>
          <p:cNvPr id="7" name="Rounded Rectangle 6"/>
          <p:cNvSpPr/>
          <p:nvPr/>
        </p:nvSpPr>
        <p:spPr>
          <a:xfrm>
            <a:off x="3429000" y="1645920"/>
            <a:ext cx="25603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50" b="1">
                <a:solidFill>
                  <a:srgbClr val="14B8A6"/>
                </a:solidFill>
              </a:defRPr>
            </a:pPr>
            <a:r>
              <a:t>PILLAR 02</a:t>
            </a:r>
          </a:p>
          <a:p>
            <a:pPr>
              <a:spcAft>
                <a:spcPts val="400"/>
              </a:spcAft>
              <a:defRPr sz="1300" b="1">
                <a:solidFill>
                  <a:srgbClr val="F8FAFC"/>
                </a:solidFill>
              </a:defRPr>
            </a:pPr>
            <a:r>
              <a:t>Chemical ontology</a:t>
            </a:r>
          </a:p>
          <a:p>
            <a:pPr>
              <a:spcAft>
                <a:spcPts val="800"/>
              </a:spcAft>
              <a:defRPr sz="850">
                <a:solidFill>
                  <a:srgbClr val="CBD5E1"/>
                </a:solidFill>
              </a:defRPr>
            </a:pPr>
            <a:r>
              <a:t>Six-attribute slot per nucleotide — sugar, linkage, base, terminal, conjugate</a:t>
            </a:r>
          </a:p>
          <a:p>
            <a:pPr>
              <a:spcAft>
                <a:spcPts val="200"/>
              </a:spcAft>
              <a:defRPr sz="819">
                <a:solidFill>
                  <a:srgbClr val="CBD5E1"/>
                </a:solidFill>
              </a:defRPr>
            </a:pPr>
            <a:r>
              <a:t>• 2'-F, 2'-OMe, MOE, LNA coexisting</a:t>
            </a:r>
          </a:p>
          <a:p>
            <a:pPr>
              <a:spcAft>
                <a:spcPts val="200"/>
              </a:spcAft>
              <a:defRPr sz="819">
                <a:solidFill>
                  <a:srgbClr val="CBD5E1"/>
                </a:solidFill>
              </a:defRPr>
            </a:pPr>
            <a:r>
              <a:t>• Phosphorothioate (PS) backbone linkage</a:t>
            </a:r>
          </a:p>
          <a:p>
            <a:pPr>
              <a:spcAft>
                <a:spcPts val="200"/>
              </a:spcAft>
              <a:defRPr sz="819">
                <a:solidFill>
                  <a:srgbClr val="CBD5E1"/>
                </a:solidFill>
              </a:defRPr>
            </a:pPr>
            <a:r>
              <a:t>• Cleavage-sparing central rule (pos 9–11)</a:t>
            </a:r>
          </a:p>
          <a:p>
            <a:pPr>
              <a:spcAft>
                <a:spcPts val="200"/>
              </a:spcAft>
              <a:defRPr sz="819">
                <a:solidFill>
                  <a:srgbClr val="CBD5E1"/>
                </a:solidFill>
              </a:defRPr>
            </a:pPr>
            <a:r>
              <a:t>• Triantennary GalNAc liver targeting</a:t>
            </a:r>
          </a:p>
          <a:p>
            <a:pPr>
              <a:spcBef>
                <a:spcPts val="1400"/>
              </a:spcBef>
              <a:defRPr sz="800" b="1">
                <a:solidFill>
                  <a:srgbClr val="14B8A6"/>
                </a:solidFill>
              </a:defRPr>
            </a:pPr>
            <a:r>
              <a:t>WHERE IT WORKS</a:t>
            </a:r>
          </a:p>
          <a:p>
            <a:pPr>
              <a:defRPr sz="850">
                <a:solidFill>
                  <a:srgbClr val="F8FAFC"/>
                </a:solidFill>
              </a:defRPr>
            </a:pPr>
            <a:r>
              <a:t>Modified siRNA scoring for clinical chemistry</a:t>
            </a:r>
          </a:p>
        </p:txBody>
      </p:sp>
      <p:sp>
        <p:nvSpPr>
          <p:cNvPr id="8" name="Rounded Rectangle 7"/>
          <p:cNvSpPr/>
          <p:nvPr/>
        </p:nvSpPr>
        <p:spPr>
          <a:xfrm>
            <a:off x="6126480" y="1645920"/>
            <a:ext cx="25603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50" b="1">
                <a:solidFill>
                  <a:srgbClr val="A855F7"/>
                </a:solidFill>
              </a:defRPr>
            </a:pPr>
            <a:r>
              <a:t>PILLAR 03</a:t>
            </a:r>
          </a:p>
          <a:p>
            <a:pPr>
              <a:spcAft>
                <a:spcPts val="400"/>
              </a:spcAft>
              <a:defRPr sz="1300" b="1">
                <a:solidFill>
                  <a:srgbClr val="F8FAFC"/>
                </a:solidFill>
              </a:defRPr>
            </a:pPr>
            <a:r>
              <a:t>Dose-potency curve</a:t>
            </a:r>
          </a:p>
          <a:p>
            <a:pPr>
              <a:spcAft>
                <a:spcPts val="800"/>
              </a:spcAft>
              <a:defRPr sz="850">
                <a:solidFill>
                  <a:srgbClr val="CBD5E1"/>
                </a:solidFill>
              </a:defRPr>
            </a:pPr>
            <a:r>
              <a:t>Two-stage hierarchical regressor: intrinsic pIC50 followed by Hill response</a:t>
            </a:r>
          </a:p>
          <a:p>
            <a:pPr>
              <a:spcAft>
                <a:spcPts val="200"/>
              </a:spcAft>
              <a:defRPr sz="819">
                <a:solidFill>
                  <a:srgbClr val="CBD5E1"/>
                </a:solidFill>
              </a:defRPr>
            </a:pPr>
            <a:r>
              <a:t>• Predicts pIC50 = -log10 IC50</a:t>
            </a:r>
          </a:p>
          <a:p>
            <a:pPr>
              <a:spcAft>
                <a:spcPts val="200"/>
              </a:spcAft>
              <a:defRPr sz="819">
                <a:solidFill>
                  <a:srgbClr val="CBD5E1"/>
                </a:solidFill>
              </a:defRPr>
            </a:pPr>
            <a:r>
              <a:t>• Hill fit across 68 doses (0.00017–1000 nM)</a:t>
            </a:r>
          </a:p>
          <a:p>
            <a:pPr>
              <a:spcAft>
                <a:spcPts val="200"/>
              </a:spcAft>
              <a:defRPr sz="819">
                <a:solidFill>
                  <a:srgbClr val="CBD5E1"/>
                </a:solidFill>
              </a:defRPr>
            </a:pPr>
            <a:r>
              <a:t>• Standardized 10 nM clinical benchmark</a:t>
            </a:r>
          </a:p>
          <a:p>
            <a:pPr>
              <a:spcAft>
                <a:spcPts val="200"/>
              </a:spcAft>
              <a:defRPr sz="819">
                <a:solidFill>
                  <a:srgbClr val="CBD5E1"/>
                </a:solidFill>
              </a:defRPr>
            </a:pPr>
            <a:r>
              <a:t>• N = 8,159 guide partition test</a:t>
            </a:r>
          </a:p>
          <a:p>
            <a:pPr>
              <a:spcBef>
                <a:spcPts val="1400"/>
              </a:spcBef>
              <a:defRPr sz="800" b="1">
                <a:solidFill>
                  <a:srgbClr val="A855F7"/>
                </a:solidFill>
              </a:defRPr>
            </a:pPr>
            <a:r>
              <a:t>WHERE IT WORKS</a:t>
            </a:r>
          </a:p>
          <a:p>
            <a:pPr>
              <a:defRPr sz="850">
                <a:solidFill>
                  <a:srgbClr val="F8FAFC"/>
                </a:solidFill>
              </a:defRPr>
            </a:pPr>
            <a:r>
              <a:t>Multi-dose clinical translation &amp; guidance</a:t>
            </a:r>
          </a:p>
        </p:txBody>
      </p:sp>
      <p:sp>
        <p:nvSpPr>
          <p:cNvPr id="9" name="Rounded Rectangle 8"/>
          <p:cNvSpPr/>
          <p:nvPr/>
        </p:nvSpPr>
        <p:spPr>
          <a:xfrm>
            <a:off x="8823960" y="1645920"/>
            <a:ext cx="25603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50" b="1">
                <a:solidFill>
                  <a:srgbClr val="F59E0B"/>
                </a:solidFill>
              </a:defRPr>
            </a:pPr>
            <a:r>
              <a:t>PILLAR 04</a:t>
            </a:r>
          </a:p>
          <a:p>
            <a:pPr>
              <a:spcAft>
                <a:spcPts val="400"/>
              </a:spcAft>
              <a:defRPr sz="1300" b="1">
                <a:solidFill>
                  <a:srgbClr val="F8FAFC"/>
                </a:solidFill>
              </a:defRPr>
            </a:pPr>
            <a:r>
              <a:t>Ago2 3D docking</a:t>
            </a:r>
          </a:p>
          <a:p>
            <a:pPr>
              <a:spcAft>
                <a:spcPts val="800"/>
              </a:spcAft>
              <a:defRPr sz="850">
                <a:solidFill>
                  <a:srgbClr val="CBD5E1"/>
                </a:solidFill>
              </a:defRPr>
            </a:pPr>
            <a:r>
              <a:t>Human Argonaute-2 crystal coordinates (PDB 4W5N, 2.90 Å) as geometric veto</a:t>
            </a:r>
          </a:p>
          <a:p>
            <a:pPr>
              <a:spcAft>
                <a:spcPts val="200"/>
              </a:spcAft>
              <a:defRPr sz="819">
                <a:solidFill>
                  <a:srgbClr val="CBD5E1"/>
                </a:solidFill>
              </a:defRPr>
            </a:pPr>
            <a:r>
              <a:t>• MID pocket ≤ 4.5 Å</a:t>
            </a:r>
          </a:p>
          <a:p>
            <a:pPr>
              <a:spcAft>
                <a:spcPts val="200"/>
              </a:spcAft>
              <a:defRPr sz="819">
                <a:solidFill>
                  <a:srgbClr val="CBD5E1"/>
                </a:solidFill>
              </a:defRPr>
            </a:pPr>
            <a:r>
              <a:t>• PAZ 3'-overhang 12–15 Å</a:t>
            </a:r>
          </a:p>
          <a:p>
            <a:pPr>
              <a:spcAft>
                <a:spcPts val="200"/>
              </a:spcAft>
              <a:defRPr sz="819">
                <a:solidFill>
                  <a:srgbClr val="CBD5E1"/>
                </a:solidFill>
              </a:defRPr>
            </a:pPr>
            <a:r>
              <a:t>• PIWI catalytic ≤ 5.5 Å</a:t>
            </a:r>
          </a:p>
          <a:p>
            <a:pPr>
              <a:spcAft>
                <a:spcPts val="200"/>
              </a:spcAft>
              <a:defRPr sz="819">
                <a:solidFill>
                  <a:srgbClr val="CBD5E1"/>
                </a:solidFill>
              </a:defRPr>
            </a:pPr>
            <a:r>
              <a:t>• Steric clash detection (≤ 4 clean)</a:t>
            </a:r>
          </a:p>
          <a:p>
            <a:pPr>
              <a:spcBef>
                <a:spcPts val="1400"/>
              </a:spcBef>
              <a:defRPr sz="800" b="1">
                <a:solidFill>
                  <a:srgbClr val="F59E0B"/>
                </a:solidFill>
              </a:defRPr>
            </a:pPr>
            <a:r>
              <a:t>WHERE IT WORKS</a:t>
            </a:r>
          </a:p>
          <a:p>
            <a:pPr>
              <a:defRPr sz="850">
                <a:solidFill>
                  <a:srgbClr val="F8FAFC"/>
                </a:solidFill>
              </a:defRPr>
            </a:pPr>
            <a:r>
              <a:t>Pre-synth structural feasibility filter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DATA ENGINEERING</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Ten public resources, </a:t>
            </a:r>
            <a:r>
              <a:rPr sz="2400" b="1">
                <a:solidFill>
                  <a:srgbClr val="0EA5E9"/>
                </a:solidFill>
              </a:rPr>
              <a:t>four</a:t>
            </a:r>
            <a:r>
              <a:rPr sz="2400" b="1">
                <a:solidFill>
                  <a:srgbClr val="F8FAFC"/>
                </a:solidFill>
              </a:rPr>
              <a:t> functional clusters</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40,255 measured assays · 3,535 canonical duplexes · 549 patent/clinical compounds · human Ago2 coordinates</a:t>
            </a:r>
          </a:p>
        </p:txBody>
      </p:sp>
      <p:sp>
        <p:nvSpPr>
          <p:cNvPr id="6" name="Rounded Rectangle 5"/>
          <p:cNvSpPr/>
          <p:nvPr/>
        </p:nvSpPr>
        <p:spPr>
          <a:xfrm>
            <a:off x="731520" y="1645920"/>
            <a:ext cx="5242255" cy="2194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800" b="1">
                <a:solidFill>
                  <a:srgbClr val="0EA5E9"/>
                </a:solidFill>
              </a:defRPr>
            </a:pPr>
            <a:r>
              <a:t>CLUSTER 01</a:t>
            </a:r>
          </a:p>
          <a:p>
            <a:pPr>
              <a:spcAft>
                <a:spcPts val="600"/>
              </a:spcAft>
              <a:defRPr sz="1250" b="1">
                <a:solidFill>
                  <a:srgbClr val="F8FAFC"/>
                </a:solidFill>
              </a:defRPr>
            </a:pPr>
            <a:r>
              <a:t>Canonical sequence benchmarks</a:t>
            </a:r>
          </a:p>
          <a:p>
            <a:pPr>
              <a:spcAft>
                <a:spcPts val="200"/>
              </a:spcAft>
            </a:pPr>
            <a:r>
              <a:rPr sz="850" b="1">
                <a:solidFill>
                  <a:srgbClr val="0EA5E9"/>
                </a:solidFill>
              </a:rPr>
              <a:t>Huesken Gold Standard: </a:t>
            </a:r>
            <a:r>
              <a:rPr sz="800">
                <a:solidFill>
                  <a:srgbClr val="CBD5E1"/>
                </a:solidFill>
              </a:rPr>
              <a:t>N = 2,361 siRNAs across 34 genes; Novartis Nature Biotech 2005; r = 0.8044</a:t>
            </a:r>
          </a:p>
          <a:p>
            <a:pPr>
              <a:spcAft>
                <a:spcPts val="200"/>
              </a:spcAft>
            </a:pPr>
            <a:r>
              <a:rPr sz="850" b="1">
                <a:solidFill>
                  <a:srgbClr val="0EA5E9"/>
                </a:solidFill>
              </a:rPr>
              <a:t>Takayuki / siDirect: </a:t>
            </a:r>
            <a:r>
              <a:rPr sz="800">
                <a:solidFill>
                  <a:srgbClr val="CBD5E1"/>
                </a:solidFill>
              </a:rPr>
              <a:t>N = 702 siRNAs; Katoh &amp; Suzuki, NAR 2007; r = 0.8788</a:t>
            </a:r>
          </a:p>
          <a:p>
            <a:pPr>
              <a:spcAft>
                <a:spcPts val="200"/>
              </a:spcAft>
            </a:pPr>
            <a:r>
              <a:rPr sz="850" b="1">
                <a:solidFill>
                  <a:srgbClr val="0EA5E9"/>
                </a:solidFill>
              </a:rPr>
              <a:t>Seven-Study Canonical Mixset: </a:t>
            </a:r>
            <a:r>
              <a:rPr sz="800">
                <a:solidFill>
                  <a:srgbClr val="CBD5E1"/>
                </a:solidFill>
              </a:rPr>
              <a:t>N = 472 siRNAs across Reynolds, Ui-Tei, Amarzguioui, Vickers collections; r = 0.8291</a:t>
            </a:r>
          </a:p>
        </p:txBody>
      </p:sp>
      <p:sp>
        <p:nvSpPr>
          <p:cNvPr id="7" name="Rounded Rectangle 6"/>
          <p:cNvSpPr/>
          <p:nvPr/>
        </p:nvSpPr>
        <p:spPr>
          <a:xfrm>
            <a:off x="6217920" y="1645920"/>
            <a:ext cx="5242255" cy="2194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800" b="1">
                <a:solidFill>
                  <a:srgbClr val="14B8A6"/>
                </a:solidFill>
              </a:defRPr>
            </a:pPr>
            <a:r>
              <a:t>CLUSTER 02</a:t>
            </a:r>
          </a:p>
          <a:p>
            <a:pPr>
              <a:spcAft>
                <a:spcPts val="600"/>
              </a:spcAft>
              <a:defRPr sz="1250" b="1">
                <a:solidFill>
                  <a:srgbClr val="F8FAFC"/>
                </a:solidFill>
              </a:defRPr>
            </a:pPr>
            <a:r>
              <a:t>Multi-dose + chemistry corpus</a:t>
            </a:r>
          </a:p>
          <a:p>
            <a:pPr>
              <a:spcAft>
                <a:spcPts val="200"/>
              </a:spcAft>
            </a:pPr>
            <a:r>
              <a:rPr sz="850" b="1">
                <a:solidFill>
                  <a:srgbClr val="14B8A6"/>
                </a:solidFill>
              </a:rPr>
              <a:t>CMsiRNAdb master: </a:t>
            </a:r>
            <a:r>
              <a:rPr sz="800">
                <a:solidFill>
                  <a:srgbClr val="CBD5E1"/>
                </a:solidFill>
              </a:rPr>
              <a:t>40,255 records; 37,946 BRONZE assays at 68 doses + 2,309 GOLD Hill curves; r = 0.8049</a:t>
            </a:r>
          </a:p>
          <a:p>
            <a:pPr>
              <a:spcAft>
                <a:spcPts val="200"/>
              </a:spcAft>
            </a:pPr>
            <a:r>
              <a:rPr sz="850" b="1">
                <a:solidFill>
                  <a:srgbClr val="14B8A6"/>
                </a:solidFill>
              </a:rPr>
              <a:t>Foster GalNAc panel: </a:t>
            </a:r>
            <a:r>
              <a:rPr sz="800">
                <a:solidFill>
                  <a:srgbClr val="CBD5E1"/>
                </a:solidFill>
              </a:rPr>
              <a:t>N = 15 siRNAs; ESC/ESC+ chemistries, Mol Therapy 2018; r = 0.9120</a:t>
            </a:r>
          </a:p>
          <a:p>
            <a:pPr>
              <a:spcAft>
                <a:spcPts val="200"/>
              </a:spcAft>
            </a:pPr>
            <a:r>
              <a:rPr sz="850" b="1">
                <a:solidFill>
                  <a:srgbClr val="14B8A6"/>
                </a:solidFill>
              </a:rPr>
              <a:t>CMsiRNAdb 10 nM subset: </a:t>
            </a:r>
            <a:r>
              <a:rPr sz="800">
                <a:solidFill>
                  <a:srgbClr val="CBD5E1"/>
                </a:solidFill>
              </a:rPr>
              <a:t>N = 472 siRNAs at the standardized 10 nM dose. The same-drug-comparison benchmark.</a:t>
            </a:r>
          </a:p>
        </p:txBody>
      </p:sp>
      <p:sp>
        <p:nvSpPr>
          <p:cNvPr id="8" name="Rounded Rectangle 7"/>
          <p:cNvSpPr/>
          <p:nvPr/>
        </p:nvSpPr>
        <p:spPr>
          <a:xfrm>
            <a:off x="731520" y="4023360"/>
            <a:ext cx="5242255" cy="2194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800" b="1">
                <a:solidFill>
                  <a:srgbClr val="A855F7"/>
                </a:solidFill>
              </a:defRPr>
            </a:pPr>
            <a:r>
              <a:t>CLUSTER 03</a:t>
            </a:r>
          </a:p>
          <a:p>
            <a:pPr>
              <a:spcAft>
                <a:spcPts val="600"/>
              </a:spcAft>
              <a:defRPr sz="1250" b="1">
                <a:solidFill>
                  <a:srgbClr val="F8FAFC"/>
                </a:solidFill>
              </a:defRPr>
            </a:pPr>
            <a:r>
              <a:t>Patent &amp; clinical translation</a:t>
            </a:r>
          </a:p>
          <a:p>
            <a:pPr>
              <a:spcAft>
                <a:spcPts val="200"/>
              </a:spcAft>
            </a:pPr>
            <a:r>
              <a:rPr sz="850" b="1">
                <a:solidFill>
                  <a:srgbClr val="A855F7"/>
                </a:solidFill>
              </a:rPr>
              <a:t>FENNEC patent panels: </a:t>
            </a:r>
            <a:r>
              <a:rPr sz="800">
                <a:solidFill>
                  <a:srgbClr val="CBD5E1"/>
                </a:solidFill>
              </a:rPr>
              <a:t>N = 534 (APP N=343, JAK1 N=191); Alnylam WO2020132227A2 &amp; WO2024256707A1.</a:t>
            </a:r>
          </a:p>
          <a:p>
            <a:pPr>
              <a:spcAft>
                <a:spcPts val="200"/>
              </a:spcAft>
            </a:pPr>
            <a:r>
              <a:rPr sz="850" b="1">
                <a:solidFill>
                  <a:srgbClr val="A855F7"/>
                </a:solidFill>
              </a:rPr>
              <a:t>Heterogeneous multi-patent: </a:t>
            </a:r>
            <a:r>
              <a:rPr sz="800">
                <a:solidFill>
                  <a:srgbClr val="CBD5E1"/>
                </a:solidFill>
              </a:rPr>
              <a:t>N = 2,576 siRNAs across 90 patent disclosures; r = 0.6217</a:t>
            </a:r>
          </a:p>
          <a:p>
            <a:pPr>
              <a:spcAft>
                <a:spcPts val="200"/>
              </a:spcAft>
            </a:pPr>
            <a:r>
              <a:rPr sz="850" b="1">
                <a:solidFill>
                  <a:srgbClr val="A855F7"/>
                </a:solidFill>
              </a:rPr>
              <a:t>FDA-approved commercial: </a:t>
            </a:r>
            <a:r>
              <a:rPr sz="800">
                <a:solidFill>
                  <a:srgbClr val="CBD5E1"/>
                </a:solidFill>
              </a:rPr>
              <a:t>Patisiran · Givosiran · Inclisiran · Lumasiran · Vutrisiran. Five reference drugs as the clinical yardstick.</a:t>
            </a:r>
          </a:p>
        </p:txBody>
      </p:sp>
      <p:sp>
        <p:nvSpPr>
          <p:cNvPr id="9" name="Rounded Rectangle 8"/>
          <p:cNvSpPr/>
          <p:nvPr/>
        </p:nvSpPr>
        <p:spPr>
          <a:xfrm>
            <a:off x="6217920" y="4023360"/>
            <a:ext cx="5242255" cy="2194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800" b="1">
                <a:solidFill>
                  <a:srgbClr val="F59E0B"/>
                </a:solidFill>
              </a:defRPr>
            </a:pPr>
            <a:r>
              <a:t>CLUSTER 04</a:t>
            </a:r>
          </a:p>
          <a:p>
            <a:pPr>
              <a:spcAft>
                <a:spcPts val="600"/>
              </a:spcAft>
              <a:defRPr sz="1250" b="1">
                <a:solidFill>
                  <a:srgbClr val="F8FAFC"/>
                </a:solidFill>
              </a:defRPr>
            </a:pPr>
            <a:r>
              <a:t>Structural &amp; genomic safety</a:t>
            </a:r>
          </a:p>
          <a:p>
            <a:pPr>
              <a:spcAft>
                <a:spcPts val="200"/>
              </a:spcAft>
            </a:pPr>
            <a:r>
              <a:rPr sz="850" b="1">
                <a:solidFill>
                  <a:srgbClr val="F59E0B"/>
                </a:solidFill>
              </a:rPr>
              <a:t>Human Ago2 crystal: </a:t>
            </a:r>
            <a:r>
              <a:rPr sz="800">
                <a:solidFill>
                  <a:srgbClr val="CBD5E1"/>
                </a:solidFill>
              </a:rPr>
              <a:t>PDB 4W5N at 2.90 Å; Schirle &amp; MacRae, Science 2014</a:t>
            </a:r>
          </a:p>
          <a:p>
            <a:pPr>
              <a:spcAft>
                <a:spcPts val="200"/>
              </a:spcAft>
            </a:pPr>
            <a:r>
              <a:rPr sz="850" b="1">
                <a:solidFill>
                  <a:srgbClr val="F59E0B"/>
                </a:solidFill>
              </a:rPr>
              <a:t>Reference transcriptome: </a:t>
            </a:r>
            <a:r>
              <a:rPr sz="800">
                <a:solidFill>
                  <a:srgbClr val="CBD5E1"/>
                </a:solidFill>
              </a:rPr>
              <a:t>863 MB GRCh38 2-bit packed &gt; 40M 30-mer off-target index</a:t>
            </a:r>
          </a:p>
          <a:p>
            <a:pPr>
              <a:spcAft>
                <a:spcPts val="200"/>
              </a:spcAft>
            </a:pPr>
            <a:r>
              <a:rPr sz="850" b="1">
                <a:solidFill>
                  <a:srgbClr val="F59E0B"/>
                </a:solidFill>
              </a:rPr>
              <a:t>OligoFormer seed viability: </a:t>
            </a:r>
            <a:r>
              <a:rPr sz="800">
                <a:solidFill>
                  <a:srgbClr val="CBD5E1"/>
                </a:solidFill>
              </a:rPr>
              <a:t>4,096 hexamers; positions 2–7 miRNA-like seed toxicity pre-filter.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A QUICK PRIMER</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A 21-nucleotide drug with </a:t>
            </a:r>
            <a:r>
              <a:rPr sz="2400" b="1">
                <a:solidFill>
                  <a:srgbClr val="0EA5E9"/>
                </a:solidFill>
              </a:rPr>
              <a:t>many</a:t>
            </a:r>
            <a:r>
              <a:rPr sz="2400" b="1">
                <a:solidFill>
                  <a:srgbClr val="F8FAFC"/>
                </a:solidFill>
              </a:rPr>
              <a:t> distinct hats</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An siRNA duplex loads into Argonaute-2. Five chemical levers decide whether the guide silences the right mRNA at the right dose.</a:t>
            </a:r>
          </a:p>
        </p:txBody>
      </p:sp>
      <p:sp>
        <p:nvSpPr>
          <p:cNvPr id="6" name="Rounded Rectangle 5"/>
          <p:cNvSpPr/>
          <p:nvPr/>
        </p:nvSpPr>
        <p:spPr>
          <a:xfrm>
            <a:off x="731520" y="1645920"/>
            <a:ext cx="685800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228600" tIns="182880" wrap="square"/>
          <a:lstStyle/>
          <a:p>
            <a:pPr algn="ctr">
              <a:defRPr sz="850" b="1">
                <a:solidFill>
                  <a:srgbClr val="94A3B8"/>
                </a:solidFill>
              </a:defRPr>
            </a:pPr>
            <a:r>
              <a:t>ANATOMY OF A CLINICAL GUIDE STRAND</a:t>
            </a:r>
          </a:p>
          <a:p>
            <a:pPr>
              <a:spcAft>
                <a:spcPts val="2000"/>
              </a:spcAft>
              <a:defRPr sz="1400" b="1">
                <a:solidFill>
                  <a:srgbClr val="F8FAFC"/>
                </a:solidFill>
              </a:defRPr>
            </a:pPr>
            <a:r>
              <a:t>From 5'-phosphate to 3'-overhang</a:t>
            </a:r>
          </a:p>
          <a:p>
            <a:pPr>
              <a:spcAft>
                <a:spcPts val="800"/>
              </a:spcAft>
            </a:pPr>
            <a:r>
              <a:rPr sz="1000" b="1">
                <a:solidFill>
                  <a:srgbClr val="0EA5E9"/>
                </a:solidFill>
              </a:rPr>
              <a:t>• 5'-phosphate anchor: </a:t>
            </a:r>
            <a:r>
              <a:rPr sz="950">
                <a:solidFill>
                  <a:srgbClr val="CBD5E1"/>
                </a:solidFill>
              </a:rPr>
              <a:t>Docked in the Ago2 MID pocket at ≤ 4.5 Å. Without it, no silencing.</a:t>
            </a:r>
          </a:p>
          <a:p>
            <a:pPr>
              <a:spcAft>
                <a:spcPts val="800"/>
              </a:spcAft>
            </a:pPr>
            <a:r>
              <a:rPr sz="1000" b="1">
                <a:solidFill>
                  <a:srgbClr val="14B8A6"/>
                </a:solidFill>
              </a:rPr>
              <a:t>• Seed region 2–7: </a:t>
            </a:r>
            <a:r>
              <a:rPr sz="950">
                <a:solidFill>
                  <a:srgbClr val="CBD5E1"/>
                </a:solidFill>
              </a:rPr>
              <a:t>Drives target affinity. Tolerates 2'-F, 2'-OMe alternating patterns.</a:t>
            </a:r>
          </a:p>
          <a:p>
            <a:pPr>
              <a:spcAft>
                <a:spcPts val="800"/>
              </a:spcAft>
            </a:pPr>
            <a:r>
              <a:rPr sz="1000" b="1">
                <a:solidFill>
                  <a:srgbClr val="F43F5E"/>
                </a:solidFill>
              </a:rPr>
              <a:t>• Cleavage 9–11: </a:t>
            </a:r>
            <a:r>
              <a:rPr sz="950">
                <a:solidFill>
                  <a:srgbClr val="CBD5E1"/>
                </a:solidFill>
              </a:rPr>
              <a:t>Bulky sugar mods sterically clash with the catalytic Asp-Glu-Asp triad.</a:t>
            </a:r>
          </a:p>
          <a:p>
            <a:pPr>
              <a:spcAft>
                <a:spcPts val="800"/>
              </a:spcAft>
            </a:pPr>
            <a:r>
              <a:rPr sz="1000" b="1">
                <a:solidFill>
                  <a:srgbClr val="F59E0B"/>
                </a:solidFill>
              </a:rPr>
              <a:t>• 3'-overhang: </a:t>
            </a:r>
            <a:r>
              <a:rPr sz="950">
                <a:solidFill>
                  <a:srgbClr val="CBD5E1"/>
                </a:solidFill>
              </a:rPr>
              <a:t>PS linkages here resist serum exonucleases for weeks.</a:t>
            </a:r>
          </a:p>
        </p:txBody>
      </p:sp>
      <p:sp>
        <p:nvSpPr>
          <p:cNvPr id="7" name="Rounded Rectangle 6"/>
          <p:cNvSpPr/>
          <p:nvPr/>
        </p:nvSpPr>
        <p:spPr>
          <a:xfrm>
            <a:off x="7772400" y="1645920"/>
            <a:ext cx="3687775"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82880" wrap="square"/>
          <a:lstStyle/>
          <a:p>
            <a:pPr algn="ctr">
              <a:defRPr sz="850" b="1">
                <a:solidFill>
                  <a:srgbClr val="94A3B8"/>
                </a:solidFill>
              </a:defRPr>
            </a:pPr>
            <a:r>
              <a:t>FIVE LEVERS DESIGNERS PULL</a:t>
            </a:r>
          </a:p>
          <a:p>
            <a:pPr>
              <a:spcAft>
                <a:spcPts val="1000"/>
              </a:spcAft>
              <a:defRPr sz="1400" b="1">
                <a:solidFill>
                  <a:srgbClr val="F8FAFC"/>
                </a:solidFill>
              </a:defRPr>
            </a:pPr>
            <a:r>
              <a:t>The chemistry toolbox</a:t>
            </a:r>
          </a:p>
          <a:p>
            <a:pPr>
              <a:spcAft>
                <a:spcPts val="600"/>
              </a:spcAft>
            </a:pPr>
            <a:r>
              <a:rPr sz="850" b="1">
                <a:solidFill>
                  <a:srgbClr val="0EA5E9"/>
                </a:solidFill>
              </a:rPr>
              <a:t>SUGAR
</a:t>
            </a:r>
            <a:r>
              <a:rPr sz="900">
                <a:solidFill>
                  <a:srgbClr val="CBD5E1"/>
                </a:solidFill>
              </a:rPr>
              <a:t>2'-F · 2'-OMe · 2'-MOE · LNA · unlocked RNA</a:t>
            </a:r>
          </a:p>
          <a:p>
            <a:pPr>
              <a:spcAft>
                <a:spcPts val="600"/>
              </a:spcAft>
            </a:pPr>
            <a:r>
              <a:rPr sz="850" b="1">
                <a:solidFill>
                  <a:srgbClr val="14B8A6"/>
                </a:solidFill>
              </a:rPr>
              <a:t>BACKBONE
</a:t>
            </a:r>
            <a:r>
              <a:rPr sz="900">
                <a:solidFill>
                  <a:srgbClr val="CBD5E1"/>
                </a:solidFill>
              </a:rPr>
              <a:t>Phosphodiester · phosphorothioate (PS)</a:t>
            </a:r>
          </a:p>
          <a:p>
            <a:pPr>
              <a:spcAft>
                <a:spcPts val="600"/>
              </a:spcAft>
            </a:pPr>
            <a:r>
              <a:rPr sz="850" b="1">
                <a:solidFill>
                  <a:srgbClr val="A855F7"/>
                </a:solidFill>
              </a:rPr>
              <a:t>BASE
</a:t>
            </a:r>
            <a:r>
              <a:rPr sz="900">
                <a:solidFill>
                  <a:srgbClr val="CBD5E1"/>
                </a:solidFill>
              </a:rPr>
              <a:t>A · G · C · U · methyl-C · pseudouridine</a:t>
            </a:r>
          </a:p>
          <a:p>
            <a:pPr>
              <a:spcAft>
                <a:spcPts val="600"/>
              </a:spcAft>
            </a:pPr>
            <a:r>
              <a:rPr sz="850" b="1">
                <a:solidFill>
                  <a:srgbClr val="F59E0B"/>
                </a:solidFill>
              </a:rPr>
              <a:t>TERMINAL
</a:t>
            </a:r>
            <a:r>
              <a:rPr sz="900">
                <a:solidFill>
                  <a:srgbClr val="CBD5E1"/>
                </a:solidFill>
              </a:rPr>
              <a:t>5' / 3' phosphate, linker, dye, inverse base</a:t>
            </a:r>
          </a:p>
          <a:p>
            <a:pPr>
              <a:spcAft>
                <a:spcPts val="600"/>
              </a:spcAft>
            </a:pPr>
            <a:r>
              <a:rPr sz="850" b="1">
                <a:solidFill>
                  <a:srgbClr val="F43F5E"/>
                </a:solidFill>
              </a:rPr>
              <a:t>CONJUGATE
</a:t>
            </a:r>
            <a:r>
              <a:rPr sz="900">
                <a:solidFill>
                  <a:srgbClr val="CBD5E1"/>
                </a:solidFill>
              </a:rPr>
              <a:t>Triantennary GalNAc — liver targeting
Also: cholesterol, lipid nanoparticles, antibody conjugates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CHEMICAL REPRESENTATION</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One nucleotide = a </a:t>
            </a:r>
            <a:r>
              <a:rPr sz="2400" b="1">
                <a:solidFill>
                  <a:srgbClr val="0EA5E9"/>
                </a:solidFill>
              </a:rPr>
              <a:t>six-attribute</a:t>
            </a:r>
            <a:r>
              <a:rPr sz="2400" b="1">
                <a:solidFill>
                  <a:srgbClr val="F8FAFC"/>
                </a:solidFill>
              </a:rPr>
              <a:t> slot</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Why a tuple beats a string. A nucleotide with a 2'-F sugar AND a PS linkage belongs to two dimensions — single-letter symbols collapse both into one ambiguous token.</a:t>
            </a:r>
          </a:p>
        </p:txBody>
      </p:sp>
      <p:sp>
        <p:nvSpPr>
          <p:cNvPr id="6" name="Rounded Rectangle 5"/>
          <p:cNvSpPr/>
          <p:nvPr/>
        </p:nvSpPr>
        <p:spPr>
          <a:xfrm>
            <a:off x="731520" y="1645920"/>
            <a:ext cx="53035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82880" wrap="square"/>
          <a:lstStyle/>
          <a:p>
            <a:pPr algn="ctr">
              <a:defRPr sz="850" b="1">
                <a:solidFill>
                  <a:srgbClr val="94A3B8"/>
                </a:solidFill>
              </a:defRPr>
            </a:pPr>
            <a:r>
              <a:t>THE SLOT-BASED NUCLEOTIDE MODEL</a:t>
            </a:r>
          </a:p>
          <a:p>
            <a:pPr>
              <a:spcAft>
                <a:spcPts val="800"/>
              </a:spcAft>
              <a:defRPr sz="1400" b="1">
                <a:solidFill>
                  <a:srgbClr val="F8FAFC"/>
                </a:solidFill>
              </a:defRPr>
            </a:pPr>
            <a:r>
              <a:t>Formal definition</a:t>
            </a:r>
          </a:p>
          <a:p>
            <a:pPr>
              <a:spcAft>
                <a:spcPts val="400"/>
              </a:spcAft>
              <a:defRPr sz="1600" b="1">
                <a:solidFill>
                  <a:srgbClr val="0EA5E9"/>
                </a:solidFill>
              </a:defRPr>
            </a:pPr>
            <a:r>
              <a:t>s_i = ( b_i , q_i , l_i , m_i , t_i , c_i )</a:t>
            </a:r>
          </a:p>
          <a:p>
            <a:pPr>
              <a:spcAft>
                <a:spcPts val="1400"/>
              </a:spcAft>
              <a:defRPr sz="850">
                <a:solidFill>
                  <a:srgbClr val="94A3B8"/>
                </a:solidFill>
              </a:defRPr>
            </a:pPr>
            <a:r>
              <a:t>base · sugar · linkage · base mod · terminal · conjugate — six dimensions per position</a:t>
            </a:r>
          </a:p>
          <a:p>
            <a:pPr>
              <a:spcAft>
                <a:spcPts val="400"/>
              </a:spcAft>
            </a:pPr>
            <a:r>
              <a:rPr sz="950" b="1">
                <a:solidFill>
                  <a:srgbClr val="0EA5E9"/>
                </a:solidFill>
              </a:rPr>
              <a:t>• b_i · base: </a:t>
            </a:r>
            <a:r>
              <a:rPr sz="900">
                <a:solidFill>
                  <a:srgbClr val="CBD5E1"/>
                </a:solidFill>
              </a:rPr>
              <a:t>A · G · C · U · modified bases</a:t>
            </a:r>
          </a:p>
          <a:p>
            <a:pPr>
              <a:spcAft>
                <a:spcPts val="400"/>
              </a:spcAft>
            </a:pPr>
            <a:r>
              <a:rPr sz="950" b="1">
                <a:solidFill>
                  <a:srgbClr val="14B8A6"/>
                </a:solidFill>
              </a:rPr>
              <a:t>• q_i · sugar: </a:t>
            </a:r>
            <a:r>
              <a:rPr sz="900">
                <a:solidFill>
                  <a:srgbClr val="CBD5E1"/>
                </a:solidFill>
              </a:rPr>
              <a:t>2'-F · 2'-OMe · 2'-MOE · LNA</a:t>
            </a:r>
          </a:p>
          <a:p>
            <a:pPr>
              <a:spcAft>
                <a:spcPts val="400"/>
              </a:spcAft>
            </a:pPr>
            <a:r>
              <a:rPr sz="950" b="1">
                <a:solidFill>
                  <a:srgbClr val="A855F7"/>
                </a:solidFill>
              </a:rPr>
              <a:t>• l_i · linkage: </a:t>
            </a:r>
            <a:r>
              <a:rPr sz="900">
                <a:solidFill>
                  <a:srgbClr val="CBD5E1"/>
                </a:solidFill>
              </a:rPr>
              <a:t>PO · PS backbone</a:t>
            </a:r>
          </a:p>
          <a:p>
            <a:pPr>
              <a:spcAft>
                <a:spcPts val="400"/>
              </a:spcAft>
            </a:pPr>
            <a:r>
              <a:rPr sz="950" b="1">
                <a:solidFill>
                  <a:srgbClr val="F59E0B"/>
                </a:solidFill>
              </a:rPr>
              <a:t>• m_i · base mod: </a:t>
            </a:r>
            <a:r>
              <a:rPr sz="900">
                <a:solidFill>
                  <a:srgbClr val="CBD5E1"/>
                </a:solidFill>
              </a:rPr>
              <a:t>5-methyl-C · pseudouridine · inosine</a:t>
            </a:r>
          </a:p>
          <a:p>
            <a:pPr>
              <a:spcAft>
                <a:spcPts val="400"/>
              </a:spcAft>
            </a:pPr>
            <a:r>
              <a:rPr sz="950" b="1">
                <a:solidFill>
                  <a:srgbClr val="F43F5E"/>
                </a:solidFill>
              </a:rPr>
              <a:t>• t_i · terminal: </a:t>
            </a:r>
            <a:r>
              <a:rPr sz="900">
                <a:solidFill>
                  <a:srgbClr val="CBD5E1"/>
                </a:solidFill>
              </a:rPr>
              <a:t>5' / 3' phosphate · linker · dye</a:t>
            </a:r>
          </a:p>
          <a:p>
            <a:pPr>
              <a:spcAft>
                <a:spcPts val="400"/>
              </a:spcAft>
            </a:pPr>
            <a:r>
              <a:rPr sz="950" b="1">
                <a:solidFill>
                  <a:srgbClr val="0EA5E9"/>
                </a:solidFill>
              </a:rPr>
              <a:t>• c_i · conjugate: </a:t>
            </a:r>
            <a:r>
              <a:rPr sz="900">
                <a:solidFill>
                  <a:srgbClr val="CBD5E1"/>
                </a:solidFill>
              </a:rPr>
              <a:t>Triantennary GalNAc · cholesterol</a:t>
            </a:r>
          </a:p>
        </p:txBody>
      </p:sp>
      <p:sp>
        <p:nvSpPr>
          <p:cNvPr id="7" name="Rounded Rectangle 6"/>
          <p:cNvSpPr/>
          <p:nvPr/>
        </p:nvSpPr>
        <p:spPr>
          <a:xfrm>
            <a:off x="6217920" y="1645920"/>
            <a:ext cx="5242255"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82880" wrap="square"/>
          <a:lstStyle/>
          <a:p>
            <a:pPr algn="ctr">
              <a:defRPr sz="900" b="1">
                <a:solidFill>
                  <a:srgbClr val="F43F5E"/>
                </a:solidFill>
              </a:defRPr>
            </a:pPr>
            <a:r>
              <a:t>OLD STYLE — STRING COLLAPSE</a:t>
            </a:r>
          </a:p>
          <a:p>
            <a:pPr>
              <a:spcAft>
                <a:spcPts val="400"/>
              </a:spcAft>
              <a:defRPr sz="1500" b="1">
                <a:solidFill>
                  <a:srgbClr val="F8FAFC"/>
                </a:solidFill>
              </a:defRPr>
            </a:pPr>
            <a:r>
              <a:t>A   [F*PS]   G   [F*PS]   U</a:t>
            </a:r>
          </a:p>
          <a:p>
            <a:pPr>
              <a:spcAft>
                <a:spcPts val="1600"/>
              </a:spcAft>
              <a:defRPr sz="950">
                <a:solidFill>
                  <a:srgbClr val="CBD5E1"/>
                </a:solidFill>
              </a:defRPr>
            </a:pPr>
            <a:r>
              <a:t>One-character string per nucleotide can't tell us whether the '*' is a 2'-F sugar, whether the PS attaches to the 3' or back, or whether this is position 14 or position 9. Information is discarded.</a:t>
            </a:r>
          </a:p>
          <a:p>
            <a:pPr>
              <a:defRPr sz="900" b="1">
                <a:solidFill>
                  <a:srgbClr val="0EA5E9"/>
                </a:solidFill>
              </a:defRPr>
            </a:pPr>
            <a:r>
              <a:t>HELIXZERO — ORTHOGONAL SLOT</a:t>
            </a:r>
          </a:p>
          <a:p>
            <a:pPr>
              <a:spcAft>
                <a:spcPts val="600"/>
              </a:spcAft>
              <a:defRPr sz="1200" b="1">
                <a:solidFill>
                  <a:srgbClr val="F8FAFC"/>
                </a:solidFill>
              </a:defRPr>
            </a:pPr>
            <a:r>
              <a:t>s_14 = ( A, 2'-F, PS, none, none, none )</a:t>
            </a:r>
            <a:br/>
            <a:r>
              <a:t>s_2   = ( A, 2'-OMe, PO, none, none, none )</a:t>
            </a:r>
          </a:p>
          <a:p>
            <a:pPr>
              <a:defRPr sz="950">
                <a:solidFill>
                  <a:srgbClr val="CBD5E1"/>
                </a:solidFill>
              </a:defRPr>
            </a:pPr>
            <a:r>
              <a:t>Six independent slots let the model learn position-aware, sugar-aware, and linkage-aware behavior — without conflicts.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FEATURE ENGINEERING</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0EA5E9"/>
                </a:solidFill>
              </a:rPr>
              <a:t>577 features, </a:t>
            </a:r>
            <a:r>
              <a:rPr sz="2400" b="1">
                <a:solidFill>
                  <a:srgbClr val="F8FAFC"/>
                </a:solidFill>
              </a:rPr>
              <a:t>four building blocks</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Explicit positional chemistry, pre-trained RNA context, engineered biophysics, thermodynamics — fused into a single duplex representation.</a:t>
            </a:r>
          </a:p>
        </p:txBody>
      </p:sp>
      <p:sp>
        <p:nvSpPr>
          <p:cNvPr id="6" name="Rounded Rectangle 5"/>
          <p:cNvSpPr/>
          <p:nvPr/>
        </p:nvSpPr>
        <p:spPr>
          <a:xfrm>
            <a:off x="731520" y="1645920"/>
            <a:ext cx="2499055" cy="11887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750" b="1">
                <a:solidFill>
                  <a:srgbClr val="0EA5E9"/>
                </a:solidFill>
              </a:defRPr>
            </a:pPr>
            <a:r>
              <a:t>BLOCK 01 · POSITIONAL CHEMISTRY</a:t>
            </a:r>
          </a:p>
          <a:p>
            <a:pPr>
              <a:defRPr sz="2600" b="1">
                <a:solidFill>
                  <a:srgbClr val="0EA5E9"/>
                </a:solidFill>
              </a:defRPr>
            </a:pPr>
            <a:r>
              <a:t>420</a:t>
            </a:r>
          </a:p>
          <a:p>
            <a:pPr>
              <a:defRPr sz="800">
                <a:solidFill>
                  <a:srgbClr val="CBD5E1"/>
                </a:solidFill>
              </a:defRPr>
            </a:pPr>
            <a:r>
              <a:t>flags / 21 positions × 2 strands</a:t>
            </a:r>
          </a:p>
        </p:txBody>
      </p:sp>
      <p:sp>
        <p:nvSpPr>
          <p:cNvPr id="7" name="Rounded Rectangle 6"/>
          <p:cNvSpPr/>
          <p:nvPr/>
        </p:nvSpPr>
        <p:spPr>
          <a:xfrm>
            <a:off x="3474720" y="1645920"/>
            <a:ext cx="2499055" cy="11887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750" b="1">
                <a:solidFill>
                  <a:srgbClr val="14B8A6"/>
                </a:solidFill>
              </a:defRPr>
            </a:pPr>
            <a:r>
              <a:t>BLOCK 02 · RNA FOUNDATION</a:t>
            </a:r>
          </a:p>
          <a:p>
            <a:pPr>
              <a:defRPr sz="2600" b="1">
                <a:solidFill>
                  <a:srgbClr val="14B8A6"/>
                </a:solidFill>
              </a:defRPr>
            </a:pPr>
            <a:r>
              <a:t>128</a:t>
            </a:r>
          </a:p>
          <a:p>
            <a:pPr>
              <a:defRPr sz="800">
                <a:solidFill>
                  <a:srgbClr val="CBD5E1"/>
                </a:solidFill>
              </a:defRPr>
            </a:pPr>
            <a:r>
              <a:t>RNA-FM 64 + RNAErnie 64 (PCA)</a:t>
            </a:r>
          </a:p>
        </p:txBody>
      </p:sp>
      <p:sp>
        <p:nvSpPr>
          <p:cNvPr id="8" name="Rounded Rectangle 7"/>
          <p:cNvSpPr/>
          <p:nvPr/>
        </p:nvSpPr>
        <p:spPr>
          <a:xfrm>
            <a:off x="6217920" y="1645920"/>
            <a:ext cx="2499055" cy="11887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750" b="1">
                <a:solidFill>
                  <a:srgbClr val="A855F7"/>
                </a:solidFill>
              </a:defRPr>
            </a:pPr>
            <a:r>
              <a:t>BLOCK 03 · ENGINEERED</a:t>
            </a:r>
          </a:p>
          <a:p>
            <a:pPr>
              <a:defRPr sz="2600" b="1">
                <a:solidFill>
                  <a:srgbClr val="A855F7"/>
                </a:solidFill>
              </a:defRPr>
            </a:pPr>
            <a:r>
              <a:t>24</a:t>
            </a:r>
          </a:p>
          <a:p>
            <a:pPr>
              <a:defRPr sz="800">
                <a:solidFill>
                  <a:srgbClr val="CBD5E1"/>
                </a:solidFill>
              </a:defRPr>
            </a:pPr>
            <a:r>
              <a:t>seed rigidity + GalNAc flags + density</a:t>
            </a:r>
          </a:p>
        </p:txBody>
      </p:sp>
      <p:sp>
        <p:nvSpPr>
          <p:cNvPr id="9" name="Rounded Rectangle 8"/>
          <p:cNvSpPr/>
          <p:nvPr/>
        </p:nvSpPr>
        <p:spPr>
          <a:xfrm>
            <a:off x="8961120" y="1645920"/>
            <a:ext cx="2499055" cy="11887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750" b="1">
                <a:solidFill>
                  <a:srgbClr val="F59E0B"/>
                </a:solidFill>
              </a:defRPr>
            </a:pPr>
            <a:r>
              <a:t>BLOCK 04 · THERMODYNAMICS</a:t>
            </a:r>
          </a:p>
          <a:p>
            <a:pPr>
              <a:defRPr sz="2600" b="1">
                <a:solidFill>
                  <a:srgbClr val="F59E0B"/>
                </a:solidFill>
              </a:defRPr>
            </a:pPr>
            <a:r>
              <a:t>5</a:t>
            </a:r>
          </a:p>
          <a:p>
            <a:pPr>
              <a:defRPr sz="800">
                <a:solidFill>
                  <a:srgbClr val="CBD5E1"/>
                </a:solidFill>
              </a:defRPr>
            </a:pPr>
            <a:r>
              <a:t>ΔG, ΔΔG, GC, melting profile</a:t>
            </a:r>
          </a:p>
        </p:txBody>
      </p:sp>
      <p:sp>
        <p:nvSpPr>
          <p:cNvPr id="10" name="TextBox 9"/>
          <p:cNvSpPr txBox="1"/>
          <p:nvPr/>
        </p:nvSpPr>
        <p:spPr>
          <a:xfrm>
            <a:off x="731520" y="2971800"/>
            <a:ext cx="10789920" cy="274320"/>
          </a:xfrm>
          <a:prstGeom prst="rect">
            <a:avLst/>
          </a:prstGeom>
          <a:noFill/>
        </p:spPr>
        <p:txBody>
          <a:bodyPr wrap="none">
            <a:spAutoFit/>
          </a:bodyPr>
          <a:lstStyle/>
          <a:p>
            <a:pPr>
              <a:defRPr sz="1100" b="1">
                <a:solidFill>
                  <a:srgbClr val="F8FAFC"/>
                </a:solidFill>
              </a:defRPr>
            </a:pPr>
            <a:r>
              <a:t>Total fused vector → 420 + 128 + 24 + 5 = 577</a:t>
            </a:r>
          </a:p>
        </p:txBody>
      </p:sp>
      <p:sp>
        <p:nvSpPr>
          <p:cNvPr id="11" name="Rounded Rectangle 10"/>
          <p:cNvSpPr/>
          <p:nvPr/>
        </p:nvSpPr>
        <p:spPr>
          <a:xfrm>
            <a:off x="731520" y="3337560"/>
            <a:ext cx="10728655" cy="132588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1100" b="1">
                <a:solidFill>
                  <a:srgbClr val="0EA5E9"/>
                </a:solidFill>
              </a:defRPr>
            </a:pPr>
            <a:r>
              <a:t>INPUT: A 21-mer duplex (Sequence + slot chemistry flags) ───▶ [ 420 Positional + 128 Foundation + 24 Biophysics + 5 Thermo ] ───▶ OUTPUT: Single 577-D vector → CatBoost</a:t>
            </a:r>
          </a:p>
          <a:p>
            <a:pPr>
              <a:defRPr sz="950">
                <a:solidFill>
                  <a:srgbClr val="CBD5E1"/>
                </a:solidFill>
              </a:defRPr>
            </a:pPr>
            <a:r>
              <a:t>One representation feeds all downstream models. No re-engineering between sequence and chemistry branches.</a:t>
            </a:r>
          </a:p>
        </p:txBody>
      </p:sp>
      <p:sp>
        <p:nvSpPr>
          <p:cNvPr id="12" name="Rounded Rectangle 11"/>
          <p:cNvSpPr/>
          <p:nvPr/>
        </p:nvSpPr>
        <p:spPr>
          <a:xfrm>
            <a:off x="731520" y="4846320"/>
            <a:ext cx="10728655" cy="137160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a:lstStyle/>
          <a:p>
            <a:pPr algn="ctr">
              <a:defRPr sz="850" b="1">
                <a:solidFill>
                  <a:srgbClr val="94A3B8"/>
                </a:solidFill>
              </a:defRPr>
            </a:pPr>
            <a:r>
              <a:t>WHY THIS FUSION WORKS</a:t>
            </a:r>
          </a:p>
          <a:p>
            <a:r>
              <a:rPr sz="950" b="1">
                <a:solidFill>
                  <a:srgbClr val="0EA5E9"/>
                </a:solidFill>
              </a:rPr>
              <a:t>• Chemistry → primary signal: </a:t>
            </a:r>
            <a:r>
              <a:rPr sz="900">
                <a:solidFill>
                  <a:srgbClr val="CBD5E1"/>
                </a:solidFill>
              </a:rPr>
              <a:t>Without the 420 chemistry flags, modified siRNA performance collapses by 32 correlation points.</a:t>
            </a:r>
          </a:p>
          <a:p>
            <a:r>
              <a:rPr sz="950" b="1">
                <a:solidFill>
                  <a:srgbClr val="14B8A6"/>
                </a:solidFill>
              </a:rPr>
              <a:t>• Foundations → semantic lift: </a:t>
            </a:r>
            <a:r>
              <a:rPr sz="900">
                <a:solidFill>
                  <a:srgbClr val="CBD5E1"/>
                </a:solidFill>
              </a:rPr>
              <a:t>Pre-trained RNA-FM and RNAErnie catch evolutionary patterns engineered features miss.</a:t>
            </a:r>
          </a:p>
          <a:p>
            <a:r>
              <a:rPr sz="950" b="1">
                <a:solidFill>
                  <a:srgbClr val="F59E0B"/>
                </a:solidFill>
              </a:rPr>
              <a:t>• Thermo → stability context: </a:t>
            </a:r>
            <a:r>
              <a:rPr sz="900">
                <a:solidFill>
                  <a:srgbClr val="CBD5E1"/>
                </a:solidFill>
              </a:rPr>
              <a:t>Terminal asymmetry and melting profiles explain strand-loading behavior.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MACHINE LEARNING PIPELINE</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Domain-specific models, </a:t>
            </a:r>
            <a:r>
              <a:rPr sz="2400" b="1">
                <a:solidFill>
                  <a:srgbClr val="0EA5E9"/>
                </a:solidFill>
              </a:rPr>
              <a:t>routed by chemistry</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One model per regime. Naked-RNA LightGBM for triaging canonical pools. CatBoost v4 for chemically modified duplexes. GNN for residue-level context. Hierarchy for dose-aware potency.</a:t>
            </a:r>
          </a:p>
        </p:txBody>
      </p:sp>
      <p:sp>
        <p:nvSpPr>
          <p:cNvPr id="6" name="Rounded Rectangle 5"/>
          <p:cNvSpPr/>
          <p:nvPr/>
        </p:nvSpPr>
        <p:spPr>
          <a:xfrm>
            <a:off x="731520" y="1645920"/>
            <a:ext cx="2560320" cy="39319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wrap="square"/>
          <a:lstStyle/>
          <a:p>
            <a:pPr algn="ctr">
              <a:defRPr sz="800" b="1">
                <a:solidFill>
                  <a:srgbClr val="0EA5E9"/>
                </a:solidFill>
              </a:defRPr>
            </a:pPr>
            <a:r>
              <a:t>MODEL 01</a:t>
            </a:r>
          </a:p>
          <a:p>
            <a:pPr>
              <a:spcAft>
                <a:spcPts val="600"/>
              </a:spcAft>
              <a:defRPr sz="1200" b="1">
                <a:solidFill>
                  <a:srgbClr val="F8FAFC"/>
                </a:solidFill>
              </a:defRPr>
            </a:pPr>
            <a:r>
              <a:t>LightGBM canonical</a:t>
            </a:r>
          </a:p>
          <a:p>
            <a:pPr>
              <a:spcAft>
                <a:spcPts val="400"/>
              </a:spcAft>
            </a:pPr>
            <a:r>
              <a:rPr sz="750" b="1">
                <a:solidFill>
                  <a:srgbClr val="0EA5E9"/>
                </a:solidFill>
              </a:rPr>
              <a:t>DOMAIN
</a:t>
            </a:r>
            <a:r>
              <a:rPr sz="800">
                <a:solidFill>
                  <a:srgbClr val="CBD5E1"/>
                </a:solidFill>
              </a:rPr>
              <a:t>Naked, unmodified 21-nt RNA. Sequence and thermodynamic descriptors only.</a:t>
            </a:r>
          </a:p>
          <a:p>
            <a:pPr>
              <a:spcAft>
                <a:spcPts val="400"/>
              </a:spcAft>
            </a:pPr>
            <a:r>
              <a:rPr sz="750" b="1">
                <a:solidFill>
                  <a:srgbClr val="0EA5E9"/>
                </a:solidFill>
              </a:rPr>
              <a:t>BENCHMARK
</a:t>
            </a:r>
            <a:r>
              <a:rPr sz="800">
                <a:solidFill>
                  <a:srgbClr val="CBD5E1"/>
                </a:solidFill>
              </a:rPr>
              <a:t>Huesken r=0.8044 · Takayuki r=0.8788 · Mixset r=0.8291</a:t>
            </a:r>
          </a:p>
          <a:p>
            <a:pPr>
              <a:spcAft>
                <a:spcPts val="400"/>
              </a:spcAft>
            </a:pPr>
            <a:r>
              <a:rPr sz="750" b="1">
                <a:solidFill>
                  <a:srgbClr val="0EA5E9"/>
                </a:solidFill>
              </a:rPr>
              <a:t>ARCHITECTURE
</a:t>
            </a:r>
            <a:r>
              <a:rPr sz="800">
                <a:solidFill>
                  <a:srgbClr val="CBD5E1"/>
                </a:solidFill>
              </a:rPr>
              <a:t>Fast gradient-boosted trees, k-mer counts, terminal ΔΔG. &lt; 2 ms inference.</a:t>
            </a:r>
          </a:p>
          <a:p>
            <a:pPr>
              <a:spcAft>
                <a:spcPts val="400"/>
              </a:spcAft>
            </a:pPr>
            <a:r>
              <a:rPr sz="750" b="1">
                <a:solidFill>
                  <a:srgbClr val="0EA5E9"/>
                </a:solidFill>
              </a:rPr>
              <a:t>ROLE
</a:t>
            </a:r>
            <a:r>
              <a:rPr sz="800">
                <a:solidFill>
                  <a:srgbClr val="CBD5E1"/>
                </a:solidFill>
              </a:rPr>
              <a:t>Fast triage of unmodified candidate space</a:t>
            </a:r>
          </a:p>
        </p:txBody>
      </p:sp>
      <p:sp>
        <p:nvSpPr>
          <p:cNvPr id="7" name="Rounded Rectangle 6"/>
          <p:cNvSpPr/>
          <p:nvPr/>
        </p:nvSpPr>
        <p:spPr>
          <a:xfrm>
            <a:off x="3429000" y="1645920"/>
            <a:ext cx="2560320" cy="39319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wrap="square"/>
          <a:lstStyle/>
          <a:p>
            <a:pPr algn="ctr">
              <a:defRPr sz="800" b="1">
                <a:solidFill>
                  <a:srgbClr val="14B8A6"/>
                </a:solidFill>
              </a:defRPr>
            </a:pPr>
            <a:r>
              <a:t>MODEL 02</a:t>
            </a:r>
          </a:p>
          <a:p>
            <a:pPr>
              <a:spcAft>
                <a:spcPts val="600"/>
              </a:spcAft>
              <a:defRPr sz="1200" b="1">
                <a:solidFill>
                  <a:srgbClr val="F8FAFC"/>
                </a:solidFill>
              </a:defRPr>
            </a:pPr>
            <a:r>
              <a:t>CatBoost v4 chemistry-aware</a:t>
            </a:r>
          </a:p>
          <a:p>
            <a:pPr>
              <a:spcAft>
                <a:spcPts val="400"/>
              </a:spcAft>
            </a:pPr>
            <a:r>
              <a:rPr sz="750" b="1">
                <a:solidFill>
                  <a:srgbClr val="14B8A6"/>
                </a:solidFill>
              </a:rPr>
              <a:t>DOMAIN
</a:t>
            </a:r>
            <a:r>
              <a:rPr sz="800">
                <a:solidFill>
                  <a:srgbClr val="CBD5E1"/>
                </a:solidFill>
              </a:rPr>
              <a:t>Heavily modified duplexes — 2'-F, 2'-OMe, PS linkages, base mods.</a:t>
            </a:r>
          </a:p>
          <a:p>
            <a:pPr>
              <a:spcAft>
                <a:spcPts val="400"/>
              </a:spcAft>
            </a:pPr>
            <a:r>
              <a:rPr sz="750" b="1">
                <a:solidFill>
                  <a:srgbClr val="14B8A6"/>
                </a:solidFill>
              </a:rPr>
              <a:t>BENCHMARK
</a:t>
            </a:r>
            <a:r>
              <a:rPr sz="800">
                <a:solidFill>
                  <a:srgbClr val="CBD5E1"/>
                </a:solidFill>
              </a:rPr>
              <a:t>CMsiRNAdb 10 nM subset r=0.7401 · ROC-AUC=0.8745</a:t>
            </a:r>
          </a:p>
          <a:p>
            <a:pPr>
              <a:spcAft>
                <a:spcPts val="400"/>
              </a:spcAft>
            </a:pPr>
            <a:r>
              <a:rPr sz="750" b="1">
                <a:solidFill>
                  <a:srgbClr val="14B8A6"/>
                </a:solidFill>
              </a:rPr>
              <a:t>ARCHITECTURE
</a:t>
            </a:r>
            <a:r>
              <a:rPr sz="800">
                <a:solidFill>
                  <a:srgbClr val="CBD5E1"/>
                </a:solidFill>
              </a:rPr>
              <a:t>Symmetric oblivious trees on the full 577-D vector.</a:t>
            </a:r>
          </a:p>
          <a:p>
            <a:pPr>
              <a:spcAft>
                <a:spcPts val="400"/>
              </a:spcAft>
            </a:pPr>
            <a:r>
              <a:rPr sz="750" b="1">
                <a:solidFill>
                  <a:srgbClr val="14B8A6"/>
                </a:solidFill>
              </a:rPr>
              <a:t>ROLE
</a:t>
            </a:r>
            <a:r>
              <a:rPr sz="800">
                <a:solidFill>
                  <a:srgbClr val="CBD5E1"/>
                </a:solidFill>
              </a:rPr>
              <a:t>Production scorer for clinical chemistry</a:t>
            </a:r>
          </a:p>
        </p:txBody>
      </p:sp>
      <p:sp>
        <p:nvSpPr>
          <p:cNvPr id="8" name="Rounded Rectangle 7"/>
          <p:cNvSpPr/>
          <p:nvPr/>
        </p:nvSpPr>
        <p:spPr>
          <a:xfrm>
            <a:off x="6126480" y="1645920"/>
            <a:ext cx="2560320" cy="39319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wrap="square"/>
          <a:lstStyle/>
          <a:p>
            <a:pPr algn="ctr">
              <a:defRPr sz="800" b="1">
                <a:solidFill>
                  <a:srgbClr val="A855F7"/>
                </a:solidFill>
              </a:defRPr>
            </a:pPr>
            <a:r>
              <a:t>MODEL 03</a:t>
            </a:r>
          </a:p>
          <a:p>
            <a:pPr>
              <a:spcAft>
                <a:spcPts val="600"/>
              </a:spcAft>
              <a:defRPr sz="1200" b="1">
                <a:solidFill>
                  <a:srgbClr val="F8FAFC"/>
                </a:solidFill>
              </a:defRPr>
            </a:pPr>
            <a:r>
              <a:t>Duplex graph neural network</a:t>
            </a:r>
          </a:p>
          <a:p>
            <a:pPr>
              <a:spcAft>
                <a:spcPts val="400"/>
              </a:spcAft>
            </a:pPr>
            <a:r>
              <a:rPr sz="750" b="1">
                <a:solidFill>
                  <a:srgbClr val="A855F7"/>
                </a:solidFill>
              </a:rPr>
              <a:t>DOMAIN
</a:t>
            </a:r>
            <a:r>
              <a:rPr sz="800">
                <a:solidFill>
                  <a:srgbClr val="CBD5E1"/>
                </a:solidFill>
              </a:rPr>
              <a:t>Inter-strand topology and spatial residue context.</a:t>
            </a:r>
          </a:p>
          <a:p>
            <a:pPr>
              <a:spcAft>
                <a:spcPts val="400"/>
              </a:spcAft>
            </a:pPr>
            <a:r>
              <a:rPr sz="750" b="1">
                <a:solidFill>
                  <a:srgbClr val="A855F7"/>
                </a:solidFill>
              </a:rPr>
              <a:t>BENCHMARK
</a:t>
            </a:r>
            <a:r>
              <a:rPr sz="800">
                <a:solidFill>
                  <a:srgbClr val="CBD5E1"/>
                </a:solidFill>
              </a:rPr>
              <a:t>Models Watson-Crick + wobble base-pairing edges. Captures local chemistry context around each nucleotide.</a:t>
            </a:r>
          </a:p>
          <a:p>
            <a:pPr>
              <a:spcAft>
                <a:spcPts val="400"/>
              </a:spcAft>
            </a:pPr>
            <a:r>
              <a:rPr sz="750" b="1">
                <a:solidFill>
                  <a:srgbClr val="A855F7"/>
                </a:solidFill>
              </a:rPr>
              <a:t>ARCHITECTURE
</a:t>
            </a:r>
            <a:r>
              <a:rPr sz="800">
                <a:solidFill>
                  <a:srgbClr val="CBD5E1"/>
                </a:solidFill>
              </a:rPr>
              <a:t>Bidirectional GNN. Nodes = nucleotides. Edges = base-pairing hydrogen bonds.</a:t>
            </a:r>
          </a:p>
          <a:p>
            <a:pPr>
              <a:spcAft>
                <a:spcPts val="400"/>
              </a:spcAft>
            </a:pPr>
            <a:r>
              <a:rPr sz="750" b="1">
                <a:solidFill>
                  <a:srgbClr val="A855F7"/>
                </a:solidFill>
              </a:rPr>
              <a:t>ROLE
</a:t>
            </a:r>
            <a:r>
              <a:rPr sz="800">
                <a:solidFill>
                  <a:srgbClr val="CBD5E1"/>
                </a:solidFill>
              </a:rPr>
              <a:t>Captures positional context</a:t>
            </a:r>
          </a:p>
        </p:txBody>
      </p:sp>
      <p:sp>
        <p:nvSpPr>
          <p:cNvPr id="9" name="Rounded Rectangle 8"/>
          <p:cNvSpPr/>
          <p:nvPr/>
        </p:nvSpPr>
        <p:spPr>
          <a:xfrm>
            <a:off x="8823960" y="1645920"/>
            <a:ext cx="2560320" cy="39319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wrap="square"/>
          <a:lstStyle/>
          <a:p>
            <a:pPr algn="ctr">
              <a:defRPr sz="800" b="1">
                <a:solidFill>
                  <a:srgbClr val="F59E0B"/>
                </a:solidFill>
              </a:defRPr>
            </a:pPr>
            <a:r>
              <a:t>MODEL 04</a:t>
            </a:r>
          </a:p>
          <a:p>
            <a:pPr>
              <a:spcAft>
                <a:spcPts val="600"/>
              </a:spcAft>
              <a:defRPr sz="1200" b="1">
                <a:solidFill>
                  <a:srgbClr val="F8FAFC"/>
                </a:solidFill>
              </a:defRPr>
            </a:pPr>
            <a:r>
              <a:t>Hierarchical potency engine</a:t>
            </a:r>
          </a:p>
          <a:p>
            <a:pPr>
              <a:spcAft>
                <a:spcPts val="400"/>
              </a:spcAft>
            </a:pPr>
            <a:r>
              <a:rPr sz="750" b="1">
                <a:solidFill>
                  <a:srgbClr val="F59E0B"/>
                </a:solidFill>
              </a:rPr>
              <a:t>DOMAIN
</a:t>
            </a:r>
            <a:r>
              <a:rPr sz="800">
                <a:solidFill>
                  <a:srgbClr val="CBD5E1"/>
                </a:solidFill>
              </a:rPr>
              <a:t>Multi-dose, concentration-dependent response across 68 dose levels.</a:t>
            </a:r>
          </a:p>
          <a:p>
            <a:pPr>
              <a:spcAft>
                <a:spcPts val="400"/>
              </a:spcAft>
            </a:pPr>
            <a:r>
              <a:rPr sz="750" b="1">
                <a:solidFill>
                  <a:srgbClr val="F59E0B"/>
                </a:solidFill>
              </a:rPr>
              <a:t>BENCHMARK
</a:t>
            </a:r>
            <a:r>
              <a:rPr sz="800">
                <a:solidFill>
                  <a:srgbClr val="CBD5E1"/>
                </a:solidFill>
              </a:rPr>
              <a:t>5-fold r=0.8049 · Spearman ρ=0.8018</a:t>
            </a:r>
          </a:p>
          <a:p>
            <a:pPr>
              <a:spcAft>
                <a:spcPts val="400"/>
              </a:spcAft>
            </a:pPr>
            <a:r>
              <a:rPr sz="750" b="1">
                <a:solidFill>
                  <a:srgbClr val="F59E0B"/>
                </a:solidFill>
              </a:rPr>
              <a:t>ARCHITECTURE
</a:t>
            </a:r>
            <a:r>
              <a:rPr sz="800">
                <a:solidFill>
                  <a:srgbClr val="CBD5E1"/>
                </a:solidFill>
              </a:rPr>
              <a:t>Two-stage CatBoost. Predicts pIC50, then Hill response curve at user dose.</a:t>
            </a:r>
          </a:p>
          <a:p>
            <a:pPr>
              <a:spcAft>
                <a:spcPts val="400"/>
              </a:spcAft>
            </a:pPr>
            <a:r>
              <a:rPr sz="750" b="1">
                <a:solidFill>
                  <a:srgbClr val="F59E0B"/>
                </a:solidFill>
              </a:rPr>
              <a:t>ROLE
</a:t>
            </a:r>
            <a:r>
              <a:rPr sz="800">
                <a:solidFill>
                  <a:srgbClr val="CBD5E1"/>
                </a:solidFill>
              </a:rPr>
              <a:t>Intrinsic potency independent of dose</a:t>
            </a:r>
          </a:p>
        </p:txBody>
      </p:sp>
      <p:sp>
        <p:nvSpPr>
          <p:cNvPr id="10" name="Rounded Rectangle 9"/>
          <p:cNvSpPr/>
          <p:nvPr/>
        </p:nvSpPr>
        <p:spPr>
          <a:xfrm>
            <a:off x="731520" y="5715000"/>
            <a:ext cx="10728655" cy="594360"/>
          </a:xfrm>
          <a:prstGeom prst="roundRect">
            <a:avLst/>
          </a:prstGeom>
          <a:solidFill>
            <a:srgbClr val="19140F"/>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r>
              <a:rPr sz="850" b="1">
                <a:solidFill>
                  <a:srgbClr val="F59E0B"/>
                </a:solidFill>
              </a:rPr>
              <a:t>THE CANONICAL COLLAPSE PARADOX: </a:t>
            </a:r>
            <a:r>
              <a:rPr sz="850">
                <a:solidFill>
                  <a:srgbClr val="F8FAFC"/>
                </a:solidFill>
              </a:rPr>
              <a:t>Models trained on naked RNA cannot score modified RNA. Models trained only on chemistry fail on naked RNA. Domain routing — not one-size-fits-all — is the only fix that holds.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A855F7"/>
                </a:solidFill>
              </a:defRPr>
            </a:pPr>
            <a:r>
              <a:t>// POTENCY MODELING</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Disentangling intrinsic </a:t>
            </a:r>
            <a:r>
              <a:rPr sz="2400" b="1">
                <a:solidFill>
                  <a:srgbClr val="A855F7"/>
                </a:solidFill>
              </a:rPr>
              <a:t>pIC50</a:t>
            </a:r>
            <a:r>
              <a:rPr sz="2400" b="1">
                <a:solidFill>
                  <a:srgbClr val="F8FAFC"/>
                </a:solidFill>
              </a:rPr>
              <a:t> from dose</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A mediocre siRNA at 100 nM gives 90% knockdown. A potent drug at 0.1 nM gives 50%. Real benchmarking has to look past the assay plate.</a:t>
            </a:r>
          </a:p>
        </p:txBody>
      </p:sp>
      <p:sp>
        <p:nvSpPr>
          <p:cNvPr id="6" name="Rounded Rectangle 5"/>
          <p:cNvSpPr/>
          <p:nvPr/>
        </p:nvSpPr>
        <p:spPr>
          <a:xfrm>
            <a:off x="731520" y="1645920"/>
            <a:ext cx="3291840"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750" b="1">
                <a:solidFill>
                  <a:srgbClr val="94A3B8"/>
                </a:solidFill>
              </a:defRPr>
            </a:pPr>
            <a:r>
              <a:t>5-FOLD PEARSON R</a:t>
            </a:r>
          </a:p>
          <a:p>
            <a:pPr>
              <a:defRPr sz="2200" b="1">
                <a:solidFill>
                  <a:srgbClr val="A855F7"/>
                </a:solidFill>
              </a:defRPr>
            </a:pPr>
            <a:r>
              <a:t>0.8049</a:t>
            </a:r>
          </a:p>
          <a:p>
            <a:pPr>
              <a:defRPr sz="800">
                <a:solidFill>
                  <a:srgbClr val="CBD5E1"/>
                </a:solidFill>
              </a:defRPr>
            </a:pPr>
            <a:r>
              <a:t>across 37,946 measured assays</a:t>
            </a:r>
          </a:p>
        </p:txBody>
      </p:sp>
      <p:sp>
        <p:nvSpPr>
          <p:cNvPr id="7" name="Rounded Rectangle 6"/>
          <p:cNvSpPr/>
          <p:nvPr/>
        </p:nvSpPr>
        <p:spPr>
          <a:xfrm>
            <a:off x="731520" y="3108960"/>
            <a:ext cx="3291840"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750" b="1">
                <a:solidFill>
                  <a:srgbClr val="94A3B8"/>
                </a:solidFill>
              </a:defRPr>
            </a:pPr>
            <a:r>
              <a:t>SPEARMAN P (RANK-PRESERVATION)</a:t>
            </a:r>
          </a:p>
          <a:p>
            <a:pPr>
              <a:defRPr sz="2200" b="1">
                <a:solidFill>
                  <a:srgbClr val="A855F7"/>
                </a:solidFill>
              </a:defRPr>
            </a:pPr>
            <a:r>
              <a:t>0.8018</a:t>
            </a:r>
          </a:p>
          <a:p>
            <a:pPr>
              <a:defRPr sz="800">
                <a:solidFill>
                  <a:srgbClr val="CBD5E1"/>
                </a:solidFill>
              </a:defRPr>
            </a:pPr>
            <a:r>
              <a:t>monotonic efficacy across doses</a:t>
            </a:r>
          </a:p>
        </p:txBody>
      </p:sp>
      <p:sp>
        <p:nvSpPr>
          <p:cNvPr id="8" name="Rounded Rectangle 7"/>
          <p:cNvSpPr/>
          <p:nvPr/>
        </p:nvSpPr>
        <p:spPr>
          <a:xfrm>
            <a:off x="731520" y="4572000"/>
            <a:ext cx="3291840"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09728"/>
          <a:lstStyle/>
          <a:p>
            <a:pPr algn="ctr">
              <a:defRPr sz="750" b="1">
                <a:solidFill>
                  <a:srgbClr val="94A3B8"/>
                </a:solidFill>
              </a:defRPr>
            </a:pPr>
            <a:r>
              <a:t>MULTI-DOSE GUIDE PARTITION (N = 8,159)</a:t>
            </a:r>
          </a:p>
          <a:p>
            <a:pPr>
              <a:defRPr sz="2200" b="1">
                <a:solidFill>
                  <a:srgbClr val="0EA5E9"/>
                </a:solidFill>
              </a:defRPr>
            </a:pPr>
            <a:r>
              <a:t>r = 0.8365</a:t>
            </a:r>
          </a:p>
          <a:p>
            <a:pPr>
              <a:defRPr sz="800">
                <a:solidFill>
                  <a:srgbClr val="CBD5E1"/>
                </a:solidFill>
              </a:defRPr>
            </a:pPr>
            <a:r>
              <a:t>MAE = 13.82 pp · ROC-AUC = 0.9331 — independent guide holdout standard 10 nM dose</a:t>
            </a:r>
          </a:p>
        </p:txBody>
      </p:sp>
      <p:sp>
        <p:nvSpPr>
          <p:cNvPr id="9" name="Rounded Rectangle 8"/>
          <p:cNvSpPr/>
          <p:nvPr/>
        </p:nvSpPr>
        <p:spPr>
          <a:xfrm>
            <a:off x="4206240" y="1645920"/>
            <a:ext cx="7253935" cy="274320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37160" wrap="square"/>
          <a:lstStyle/>
          <a:p>
            <a:pPr algn="ctr">
              <a:defRPr sz="850" b="1">
                <a:solidFill>
                  <a:srgbClr val="94A3B8"/>
                </a:solidFill>
              </a:defRPr>
            </a:pPr>
            <a:r>
              <a:t>STAGE 2 · HILL RESPONSE MODEL</a:t>
            </a:r>
          </a:p>
          <a:p>
            <a:pPr>
              <a:spcAft>
                <a:spcPts val="1000"/>
              </a:spcAft>
              <a:defRPr sz="1300" b="1">
                <a:solidFill>
                  <a:srgbClr val="F8FAFC"/>
                </a:solidFill>
              </a:defRPr>
            </a:pPr>
            <a:r>
              <a:t>Knockdown as a function of dose</a:t>
            </a:r>
          </a:p>
          <a:p>
            <a:pPr>
              <a:spcAft>
                <a:spcPts val="600"/>
              </a:spcAft>
              <a:defRPr sz="1000" b="1">
                <a:solidFill>
                  <a:srgbClr val="0EA5E9"/>
                </a:solidFill>
              </a:defRPr>
            </a:pPr>
            <a:r>
              <a:t>POTENCY: pIC50 = -log10(IC50 [M]) — Higher value = more potent (Molar scale)</a:t>
            </a:r>
          </a:p>
          <a:p>
            <a:pPr>
              <a:spcAft>
                <a:spcPts val="400"/>
              </a:spcAft>
              <a:defRPr sz="1000" b="1">
                <a:solidFill>
                  <a:srgbClr val="A855F7"/>
                </a:solidFill>
              </a:defRPr>
            </a:pPr>
            <a:r>
              <a:t>RESPONSE: KD(%) = 100 / ( 1 + 10^(h * (pIC50 - pC)) )</a:t>
            </a:r>
          </a:p>
          <a:p>
            <a:pPr>
              <a:defRPr sz="900">
                <a:solidFill>
                  <a:srgbClr val="CBD5E1"/>
                </a:solidFill>
              </a:defRPr>
            </a:pPr>
            <a:r>
              <a:t>Hill slope h plus predicted pIC50 plus user dose C gives expected knockdown %.</a:t>
            </a:r>
          </a:p>
        </p:txBody>
      </p:sp>
      <p:sp>
        <p:nvSpPr>
          <p:cNvPr id="10" name="Rounded Rectangle 9"/>
          <p:cNvSpPr/>
          <p:nvPr/>
        </p:nvSpPr>
        <p:spPr>
          <a:xfrm>
            <a:off x="4206240" y="4572000"/>
            <a:ext cx="7253935" cy="12801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09728" wrap="square"/>
          <a:lstStyle/>
          <a:p>
            <a:pPr algn="ctr">
              <a:defRPr sz="850" b="1">
                <a:solidFill>
                  <a:srgbClr val="94A3B8"/>
                </a:solidFill>
              </a:defRPr>
            </a:pPr>
            <a:r>
              <a:t>TWO-STAGE ARCHITECTURE · Why dose-conditioning matters</a:t>
            </a:r>
          </a:p>
          <a:p>
            <a:pPr>
              <a:spcAft>
                <a:spcPts val="200"/>
              </a:spcAft>
              <a:defRPr sz="900">
                <a:solidFill>
                  <a:srgbClr val="CBD5E1"/>
                </a:solidFill>
              </a:defRPr>
            </a:pPr>
            <a:r>
              <a:t>Stage 1 — intrinsic pIC50: CatBoost regressor on 2,309 multi-dose sigmoidal curves (R² ≥ 0.75). Trained on 577-D vector.</a:t>
            </a:r>
          </a:p>
          <a:p>
            <a:pPr>
              <a:defRPr sz="900">
                <a:solidFill>
                  <a:srgbClr val="CBD5E1"/>
                </a:solidFill>
              </a:defRPr>
            </a:pPr>
            <a:r>
              <a:t>Stage 2 — dose response: Combines predicted pIC50 with user dose C. Returns dose-specific knockdown and recovers usable IC50.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CANONICAL BENCHMARKS</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State-of-the-art on </a:t>
            </a:r>
            <a:r>
              <a:rPr sz="2400" b="1">
                <a:solidFill>
                  <a:srgbClr val="0EA5E9"/>
                </a:solidFill>
              </a:rPr>
              <a:t>unmodified</a:t>
            </a:r>
            <a:r>
              <a:rPr sz="2400" b="1">
                <a:solidFill>
                  <a:srgbClr val="F8FAFC"/>
                </a:solidFill>
              </a:rPr>
              <a:t> siRNAs</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LightGBM trained on naked 21-mer sequences. Three historical collections plus a pooled average. N = 3,535 duplexes.</a:t>
            </a:r>
          </a:p>
        </p:txBody>
      </p:sp>
      <p:graphicFrame>
        <p:nvGraphicFramePr>
          <p:cNvPr id="6" name="Table 5"/>
          <p:cNvGraphicFramePr>
            <a:graphicFrameLocks noGrp="1"/>
          </p:cNvGraphicFramePr>
          <p:nvPr/>
        </p:nvGraphicFramePr>
        <p:xfrm>
          <a:off x="731520" y="1645920"/>
          <a:ext cx="6858000" cy="2377440"/>
        </p:xfrm>
        <a:graphic>
          <a:graphicData uri="http://schemas.openxmlformats.org/drawingml/2006/table">
            <a:tbl>
              <a:tblPr firstRow="1" bandRow="1">
                <a:tableStyleId>{5C22544A-7EE6-4342-B048-85BDC9FD1C3A}</a:tableStyleId>
              </a:tblPr>
              <a:tblGrid>
                <a:gridCol w="2103120"/>
                <a:gridCol w="1371600"/>
                <a:gridCol w="548640"/>
                <a:gridCol w="731520"/>
                <a:gridCol w="731520"/>
                <a:gridCol w="640080"/>
                <a:gridCol w="731520"/>
              </a:tblGrid>
              <a:tr h="475488">
                <a:tc>
                  <a:txBody>
                    <a:bodyPr/>
                    <a:lstStyle/>
                    <a:p>
                      <a:pPr>
                        <a:defRPr sz="800" b="1">
                          <a:solidFill>
                            <a:srgbClr val="94A3B8"/>
                          </a:solidFill>
                        </a:defRPr>
                      </a:pPr>
                      <a:r>
                        <a:t>DATASET</a:t>
                      </a:r>
                    </a:p>
                  </a:txBody>
                  <a:tcPr>
                    <a:solidFill>
                      <a:srgbClr val="0D1626"/>
                    </a:solidFill>
                  </a:tcPr>
                </a:tc>
                <a:tc>
                  <a:txBody>
                    <a:bodyPr/>
                    <a:lstStyle/>
                    <a:p>
                      <a:pPr>
                        <a:defRPr sz="800" b="1">
                          <a:solidFill>
                            <a:srgbClr val="94A3B8"/>
                          </a:solidFill>
                        </a:defRPr>
                      </a:pPr>
                      <a:r>
                        <a:t>MODEL</a:t>
                      </a:r>
                    </a:p>
                  </a:txBody>
                  <a:tcPr>
                    <a:solidFill>
                      <a:srgbClr val="0D1626"/>
                    </a:solidFill>
                  </a:tcPr>
                </a:tc>
                <a:tc>
                  <a:txBody>
                    <a:bodyPr/>
                    <a:lstStyle/>
                    <a:p>
                      <a:pPr>
                        <a:defRPr sz="800" b="1">
                          <a:solidFill>
                            <a:srgbClr val="94A3B8"/>
                          </a:solidFill>
                        </a:defRPr>
                      </a:pPr>
                      <a:r>
                        <a:t>N</a:t>
                      </a:r>
                    </a:p>
                  </a:txBody>
                  <a:tcPr>
                    <a:solidFill>
                      <a:srgbClr val="0D1626"/>
                    </a:solidFill>
                  </a:tcPr>
                </a:tc>
                <a:tc>
                  <a:txBody>
                    <a:bodyPr/>
                    <a:lstStyle/>
                    <a:p>
                      <a:pPr>
                        <a:defRPr sz="800" b="1">
                          <a:solidFill>
                            <a:srgbClr val="94A3B8"/>
                          </a:solidFill>
                        </a:defRPr>
                      </a:pPr>
                      <a:r>
                        <a:t>PEARSON R</a:t>
                      </a:r>
                    </a:p>
                  </a:txBody>
                  <a:tcPr>
                    <a:solidFill>
                      <a:srgbClr val="0D1626"/>
                    </a:solidFill>
                  </a:tcPr>
                </a:tc>
                <a:tc>
                  <a:txBody>
                    <a:bodyPr/>
                    <a:lstStyle/>
                    <a:p>
                      <a:pPr>
                        <a:defRPr sz="800" b="1">
                          <a:solidFill>
                            <a:srgbClr val="94A3B8"/>
                          </a:solidFill>
                        </a:defRPr>
                      </a:pPr>
                      <a:r>
                        <a:t>SPEARMAN P</a:t>
                      </a:r>
                    </a:p>
                  </a:txBody>
                  <a:tcPr>
                    <a:solidFill>
                      <a:srgbClr val="0D1626"/>
                    </a:solidFill>
                  </a:tcPr>
                </a:tc>
                <a:tc>
                  <a:txBody>
                    <a:bodyPr/>
                    <a:lstStyle/>
                    <a:p>
                      <a:pPr>
                        <a:defRPr sz="800" b="1">
                          <a:solidFill>
                            <a:srgbClr val="94A3B8"/>
                          </a:solidFill>
                        </a:defRPr>
                      </a:pPr>
                      <a:r>
                        <a:t>R²</a:t>
                      </a:r>
                    </a:p>
                  </a:txBody>
                  <a:tcPr>
                    <a:solidFill>
                      <a:srgbClr val="0D1626"/>
                    </a:solidFill>
                  </a:tcPr>
                </a:tc>
                <a:tc>
                  <a:txBody>
                    <a:bodyPr/>
                    <a:lstStyle/>
                    <a:p>
                      <a:pPr>
                        <a:defRPr sz="800" b="1">
                          <a:solidFill>
                            <a:srgbClr val="94A3B8"/>
                          </a:solidFill>
                        </a:defRPr>
                      </a:pPr>
                      <a:r>
                        <a:t>ROC AUC</a:t>
                      </a:r>
                    </a:p>
                  </a:txBody>
                  <a:tcPr>
                    <a:solidFill>
                      <a:srgbClr val="0D1626"/>
                    </a:solidFill>
                  </a:tcPr>
                </a:tc>
              </a:tr>
              <a:tr h="475488">
                <a:tc>
                  <a:txBody>
                    <a:bodyPr/>
                    <a:lstStyle/>
                    <a:p>
                      <a:pPr>
                        <a:defRPr sz="850">
                          <a:solidFill>
                            <a:srgbClr val="F8FAFC"/>
                          </a:solidFill>
                        </a:defRPr>
                      </a:pPr>
                      <a:r>
                        <a:t>Huesken Gold Standard</a:t>
                      </a:r>
                    </a:p>
                  </a:txBody>
                  <a:tcPr>
                    <a:solidFill>
                      <a:srgbClr val="0D1626"/>
                    </a:solidFill>
                  </a:tcPr>
                </a:tc>
                <a:tc>
                  <a:txBody>
                    <a:bodyPr/>
                    <a:lstStyle/>
                    <a:p>
                      <a:pPr>
                        <a:defRPr sz="850">
                          <a:solidFill>
                            <a:srgbClr val="F8FAFC"/>
                          </a:solidFill>
                        </a:defRPr>
                      </a:pPr>
                      <a:r>
                        <a:t>LightGBM canonical</a:t>
                      </a:r>
                    </a:p>
                  </a:txBody>
                  <a:tcPr>
                    <a:solidFill>
                      <a:srgbClr val="0D1626"/>
                    </a:solidFill>
                  </a:tcPr>
                </a:tc>
                <a:tc>
                  <a:txBody>
                    <a:bodyPr/>
                    <a:lstStyle/>
                    <a:p>
                      <a:pPr>
                        <a:defRPr sz="850">
                          <a:solidFill>
                            <a:srgbClr val="CBD5E1"/>
                          </a:solidFill>
                        </a:defRPr>
                      </a:pPr>
                      <a:r>
                        <a:t>2,361</a:t>
                      </a:r>
                    </a:p>
                  </a:txBody>
                  <a:tcPr>
                    <a:solidFill>
                      <a:srgbClr val="0D1626"/>
                    </a:solidFill>
                  </a:tcPr>
                </a:tc>
                <a:tc>
                  <a:txBody>
                    <a:bodyPr/>
                    <a:lstStyle/>
                    <a:p>
                      <a:pPr>
                        <a:defRPr sz="850" b="1">
                          <a:solidFill>
                            <a:srgbClr val="0EA5E9"/>
                          </a:solidFill>
                        </a:defRPr>
                      </a:pPr>
                      <a:r>
                        <a:t>0.8044</a:t>
                      </a:r>
                    </a:p>
                  </a:txBody>
                  <a:tcPr>
                    <a:solidFill>
                      <a:srgbClr val="0D1626"/>
                    </a:solidFill>
                  </a:tcPr>
                </a:tc>
                <a:tc>
                  <a:txBody>
                    <a:bodyPr/>
                    <a:lstStyle/>
                    <a:p>
                      <a:pPr>
                        <a:defRPr sz="850">
                          <a:solidFill>
                            <a:srgbClr val="CBD5E1"/>
                          </a:solidFill>
                        </a:defRPr>
                      </a:pPr>
                      <a:r>
                        <a:t>0.8065</a:t>
                      </a:r>
                    </a:p>
                  </a:txBody>
                  <a:tcPr>
                    <a:solidFill>
                      <a:srgbClr val="0D1626"/>
                    </a:solidFill>
                  </a:tcPr>
                </a:tc>
                <a:tc>
                  <a:txBody>
                    <a:bodyPr/>
                    <a:lstStyle/>
                    <a:p>
                      <a:pPr>
                        <a:defRPr sz="850">
                          <a:solidFill>
                            <a:srgbClr val="CBD5E1"/>
                          </a:solidFill>
                        </a:defRPr>
                      </a:pPr>
                      <a:r>
                        <a:t>0.6252</a:t>
                      </a:r>
                    </a:p>
                  </a:txBody>
                  <a:tcPr>
                    <a:solidFill>
                      <a:srgbClr val="0D1626"/>
                    </a:solidFill>
                  </a:tcPr>
                </a:tc>
                <a:tc>
                  <a:txBody>
                    <a:bodyPr/>
                    <a:lstStyle/>
                    <a:p>
                      <a:pPr>
                        <a:defRPr sz="850">
                          <a:solidFill>
                            <a:srgbClr val="CBD5E1"/>
                          </a:solidFill>
                        </a:defRPr>
                      </a:pPr>
                      <a:r>
                        <a:t>0.9099</a:t>
                      </a:r>
                    </a:p>
                  </a:txBody>
                  <a:tcPr>
                    <a:solidFill>
                      <a:srgbClr val="0D1626"/>
                    </a:solidFill>
                  </a:tcPr>
                </a:tc>
              </a:tr>
              <a:tr h="475488">
                <a:tc>
                  <a:txBody>
                    <a:bodyPr/>
                    <a:lstStyle/>
                    <a:p>
                      <a:pPr>
                        <a:defRPr sz="850">
                          <a:solidFill>
                            <a:srgbClr val="F8FAFC"/>
                          </a:solidFill>
                        </a:defRPr>
                      </a:pPr>
                      <a:r>
                        <a:t>Takayuki / siDirect</a:t>
                      </a:r>
                    </a:p>
                  </a:txBody>
                  <a:tcPr>
                    <a:solidFill>
                      <a:srgbClr val="0D1626"/>
                    </a:solidFill>
                  </a:tcPr>
                </a:tc>
                <a:tc>
                  <a:txBody>
                    <a:bodyPr/>
                    <a:lstStyle/>
                    <a:p>
                      <a:pPr>
                        <a:defRPr sz="850">
                          <a:solidFill>
                            <a:srgbClr val="F8FAFC"/>
                          </a:solidFill>
                        </a:defRPr>
                      </a:pPr>
                      <a:r>
                        <a:t>LightGBM canonical</a:t>
                      </a:r>
                    </a:p>
                  </a:txBody>
                  <a:tcPr>
                    <a:solidFill>
                      <a:srgbClr val="0D1626"/>
                    </a:solidFill>
                  </a:tcPr>
                </a:tc>
                <a:tc>
                  <a:txBody>
                    <a:bodyPr/>
                    <a:lstStyle/>
                    <a:p>
                      <a:pPr>
                        <a:defRPr sz="850">
                          <a:solidFill>
                            <a:srgbClr val="CBD5E1"/>
                          </a:solidFill>
                        </a:defRPr>
                      </a:pPr>
                      <a:r>
                        <a:t>702</a:t>
                      </a:r>
                    </a:p>
                  </a:txBody>
                  <a:tcPr>
                    <a:solidFill>
                      <a:srgbClr val="0D1626"/>
                    </a:solidFill>
                  </a:tcPr>
                </a:tc>
                <a:tc>
                  <a:txBody>
                    <a:bodyPr/>
                    <a:lstStyle/>
                    <a:p>
                      <a:pPr>
                        <a:defRPr sz="850" b="1">
                          <a:solidFill>
                            <a:srgbClr val="0EA5E9"/>
                          </a:solidFill>
                        </a:defRPr>
                      </a:pPr>
                      <a:r>
                        <a:t>0.8788</a:t>
                      </a:r>
                    </a:p>
                  </a:txBody>
                  <a:tcPr>
                    <a:solidFill>
                      <a:srgbClr val="0D1626"/>
                    </a:solidFill>
                  </a:tcPr>
                </a:tc>
                <a:tc>
                  <a:txBody>
                    <a:bodyPr/>
                    <a:lstStyle/>
                    <a:p>
                      <a:pPr>
                        <a:defRPr sz="850">
                          <a:solidFill>
                            <a:srgbClr val="CBD5E1"/>
                          </a:solidFill>
                        </a:defRPr>
                      </a:pPr>
                      <a:r>
                        <a:t>0.8734</a:t>
                      </a:r>
                    </a:p>
                  </a:txBody>
                  <a:tcPr>
                    <a:solidFill>
                      <a:srgbClr val="0D1626"/>
                    </a:solidFill>
                  </a:tcPr>
                </a:tc>
                <a:tc>
                  <a:txBody>
                    <a:bodyPr/>
                    <a:lstStyle/>
                    <a:p>
                      <a:pPr>
                        <a:defRPr sz="850">
                          <a:solidFill>
                            <a:srgbClr val="CBD5E1"/>
                          </a:solidFill>
                        </a:defRPr>
                      </a:pPr>
                      <a:r>
                        <a:t>0.6525</a:t>
                      </a:r>
                    </a:p>
                  </a:txBody>
                  <a:tcPr>
                    <a:solidFill>
                      <a:srgbClr val="0D1626"/>
                    </a:solidFill>
                  </a:tcPr>
                </a:tc>
                <a:tc>
                  <a:txBody>
                    <a:bodyPr/>
                    <a:lstStyle/>
                    <a:p>
                      <a:pPr>
                        <a:defRPr sz="850">
                          <a:solidFill>
                            <a:srgbClr val="CBD5E1"/>
                          </a:solidFill>
                        </a:defRPr>
                      </a:pPr>
                      <a:r>
                        <a:t>0.9275</a:t>
                      </a:r>
                    </a:p>
                  </a:txBody>
                  <a:tcPr>
                    <a:solidFill>
                      <a:srgbClr val="0D1626"/>
                    </a:solidFill>
                  </a:tcPr>
                </a:tc>
              </a:tr>
              <a:tr h="475488">
                <a:tc>
                  <a:txBody>
                    <a:bodyPr/>
                    <a:lstStyle/>
                    <a:p>
                      <a:pPr>
                        <a:defRPr sz="850">
                          <a:solidFill>
                            <a:srgbClr val="F8FAFC"/>
                          </a:solidFill>
                        </a:defRPr>
                      </a:pPr>
                      <a:r>
                        <a:t>Seven-study Mixset</a:t>
                      </a:r>
                    </a:p>
                  </a:txBody>
                  <a:tcPr>
                    <a:solidFill>
                      <a:srgbClr val="0D1626"/>
                    </a:solidFill>
                  </a:tcPr>
                </a:tc>
                <a:tc>
                  <a:txBody>
                    <a:bodyPr/>
                    <a:lstStyle/>
                    <a:p>
                      <a:pPr>
                        <a:defRPr sz="850">
                          <a:solidFill>
                            <a:srgbClr val="F8FAFC"/>
                          </a:solidFill>
                        </a:defRPr>
                      </a:pPr>
                      <a:r>
                        <a:t>LightGBM canonical</a:t>
                      </a:r>
                    </a:p>
                  </a:txBody>
                  <a:tcPr>
                    <a:solidFill>
                      <a:srgbClr val="0D1626"/>
                    </a:solidFill>
                  </a:tcPr>
                </a:tc>
                <a:tc>
                  <a:txBody>
                    <a:bodyPr/>
                    <a:lstStyle/>
                    <a:p>
                      <a:pPr>
                        <a:defRPr sz="850">
                          <a:solidFill>
                            <a:srgbClr val="CBD5E1"/>
                          </a:solidFill>
                        </a:defRPr>
                      </a:pPr>
                      <a:r>
                        <a:t>472</a:t>
                      </a:r>
                    </a:p>
                  </a:txBody>
                  <a:tcPr>
                    <a:solidFill>
                      <a:srgbClr val="0D1626"/>
                    </a:solidFill>
                  </a:tcPr>
                </a:tc>
                <a:tc>
                  <a:txBody>
                    <a:bodyPr/>
                    <a:lstStyle/>
                    <a:p>
                      <a:pPr>
                        <a:defRPr sz="850" b="1">
                          <a:solidFill>
                            <a:srgbClr val="0EA5E9"/>
                          </a:solidFill>
                        </a:defRPr>
                      </a:pPr>
                      <a:r>
                        <a:t>0.8291</a:t>
                      </a:r>
                    </a:p>
                  </a:txBody>
                  <a:tcPr>
                    <a:solidFill>
                      <a:srgbClr val="0D1626"/>
                    </a:solidFill>
                  </a:tcPr>
                </a:tc>
                <a:tc>
                  <a:txBody>
                    <a:bodyPr/>
                    <a:lstStyle/>
                    <a:p>
                      <a:pPr>
                        <a:defRPr sz="850">
                          <a:solidFill>
                            <a:srgbClr val="CBD5E1"/>
                          </a:solidFill>
                        </a:defRPr>
                      </a:pPr>
                      <a:r>
                        <a:t>0.8093</a:t>
                      </a:r>
                    </a:p>
                  </a:txBody>
                  <a:tcPr>
                    <a:solidFill>
                      <a:srgbClr val="0D1626"/>
                    </a:solidFill>
                  </a:tcPr>
                </a:tc>
                <a:tc>
                  <a:txBody>
                    <a:bodyPr/>
                    <a:lstStyle/>
                    <a:p>
                      <a:pPr>
                        <a:defRPr sz="850">
                          <a:solidFill>
                            <a:srgbClr val="CBD5E1"/>
                          </a:solidFill>
                        </a:defRPr>
                      </a:pPr>
                      <a:r>
                        <a:t>0.4605</a:t>
                      </a:r>
                    </a:p>
                  </a:txBody>
                  <a:tcPr>
                    <a:solidFill>
                      <a:srgbClr val="0D1626"/>
                    </a:solidFill>
                  </a:tcPr>
                </a:tc>
                <a:tc>
                  <a:txBody>
                    <a:bodyPr/>
                    <a:lstStyle/>
                    <a:p>
                      <a:pPr>
                        <a:defRPr sz="850">
                          <a:solidFill>
                            <a:srgbClr val="CBD5E1"/>
                          </a:solidFill>
                        </a:defRPr>
                      </a:pPr>
                      <a:r>
                        <a:t>0.9456</a:t>
                      </a:r>
                    </a:p>
                  </a:txBody>
                  <a:tcPr>
                    <a:solidFill>
                      <a:srgbClr val="0D1626"/>
                    </a:solidFill>
                  </a:tcPr>
                </a:tc>
              </a:tr>
              <a:tr h="475488">
                <a:tc>
                  <a:txBody>
                    <a:bodyPr/>
                    <a:lstStyle/>
                    <a:p>
                      <a:pPr>
                        <a:defRPr sz="850">
                          <a:solidFill>
                            <a:srgbClr val="F8FAFC"/>
                          </a:solidFill>
                        </a:defRPr>
                      </a:pPr>
                      <a:r>
                        <a:t>Multi-study pooled</a:t>
                      </a:r>
                    </a:p>
                  </a:txBody>
                  <a:tcPr>
                    <a:solidFill>
                      <a:srgbClr val="0D1626"/>
                    </a:solidFill>
                  </a:tcPr>
                </a:tc>
                <a:tc>
                  <a:txBody>
                    <a:bodyPr/>
                    <a:lstStyle/>
                    <a:p>
                      <a:pPr>
                        <a:defRPr sz="850">
                          <a:solidFill>
                            <a:srgbClr val="F8FAFC"/>
                          </a:solidFill>
                        </a:defRPr>
                      </a:pPr>
                      <a:r>
                        <a:t>HelixZero pipeline</a:t>
                      </a:r>
                    </a:p>
                  </a:txBody>
                  <a:tcPr>
                    <a:solidFill>
                      <a:srgbClr val="0D1626"/>
                    </a:solidFill>
                  </a:tcPr>
                </a:tc>
                <a:tc>
                  <a:txBody>
                    <a:bodyPr/>
                    <a:lstStyle/>
                    <a:p>
                      <a:pPr>
                        <a:defRPr sz="850">
                          <a:solidFill>
                            <a:srgbClr val="CBD5E1"/>
                          </a:solidFill>
                        </a:defRPr>
                      </a:pPr>
                      <a:r>
                        <a:t>3,535</a:t>
                      </a:r>
                    </a:p>
                  </a:txBody>
                  <a:tcPr>
                    <a:solidFill>
                      <a:srgbClr val="0D1626"/>
                    </a:solidFill>
                  </a:tcPr>
                </a:tc>
                <a:tc>
                  <a:txBody>
                    <a:bodyPr/>
                    <a:lstStyle/>
                    <a:p>
                      <a:pPr>
                        <a:defRPr sz="850" b="1">
                          <a:solidFill>
                            <a:srgbClr val="0EA5E9"/>
                          </a:solidFill>
                        </a:defRPr>
                      </a:pPr>
                      <a:r>
                        <a:t>0.8374</a:t>
                      </a:r>
                    </a:p>
                  </a:txBody>
                  <a:tcPr>
                    <a:solidFill>
                      <a:srgbClr val="0D1626"/>
                    </a:solidFill>
                  </a:tcPr>
                </a:tc>
                <a:tc>
                  <a:txBody>
                    <a:bodyPr/>
                    <a:lstStyle/>
                    <a:p>
                      <a:pPr>
                        <a:defRPr sz="850">
                          <a:solidFill>
                            <a:srgbClr val="CBD5E1"/>
                          </a:solidFill>
                        </a:defRPr>
                      </a:pPr>
                      <a:r>
                        <a:t>0.8297</a:t>
                      </a:r>
                    </a:p>
                  </a:txBody>
                  <a:tcPr>
                    <a:solidFill>
                      <a:srgbClr val="0D1626"/>
                    </a:solidFill>
                  </a:tcPr>
                </a:tc>
                <a:tc>
                  <a:txBody>
                    <a:bodyPr/>
                    <a:lstStyle/>
                    <a:p>
                      <a:pPr>
                        <a:defRPr sz="850">
                          <a:solidFill>
                            <a:srgbClr val="CBD5E1"/>
                          </a:solidFill>
                        </a:defRPr>
                      </a:pPr>
                      <a:r>
                        <a:t>0.5794</a:t>
                      </a:r>
                    </a:p>
                  </a:txBody>
                  <a:tcPr>
                    <a:solidFill>
                      <a:srgbClr val="0D1626"/>
                    </a:solidFill>
                  </a:tcPr>
                </a:tc>
                <a:tc>
                  <a:txBody>
                    <a:bodyPr/>
                    <a:lstStyle/>
                    <a:p>
                      <a:pPr>
                        <a:defRPr sz="850">
                          <a:solidFill>
                            <a:srgbClr val="CBD5E1"/>
                          </a:solidFill>
                        </a:defRPr>
                      </a:pPr>
                      <a:r>
                        <a:t>0.9277</a:t>
                      </a:r>
                    </a:p>
                  </a:txBody>
                  <a:tcPr>
                    <a:solidFill>
                      <a:srgbClr val="0D1626"/>
                    </a:solidFill>
                  </a:tcPr>
                </a:tc>
              </a:tr>
            </a:tbl>
          </a:graphicData>
        </a:graphic>
      </p:graphicFrame>
      <p:sp>
        <p:nvSpPr>
          <p:cNvPr id="7" name="Rounded Rectangle 6"/>
          <p:cNvSpPr/>
          <p:nvPr/>
        </p:nvSpPr>
        <p:spPr>
          <a:xfrm>
            <a:off x="7772400" y="1645920"/>
            <a:ext cx="3687775" cy="429768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82880" wrap="square"/>
          <a:lstStyle/>
          <a:p>
            <a:pPr algn="ctr">
              <a:defRPr sz="850" b="1">
                <a:solidFill>
                  <a:srgbClr val="94A3B8"/>
                </a:solidFill>
              </a:defRPr>
            </a:pPr>
            <a:r>
              <a:t>KEY FINDINGS</a:t>
            </a:r>
          </a:p>
          <a:p>
            <a:pPr>
              <a:spcAft>
                <a:spcPts val="1200"/>
              </a:spcAft>
              <a:defRPr sz="1400" b="1">
                <a:solidFill>
                  <a:srgbClr val="F8FAFC"/>
                </a:solidFill>
              </a:defRPr>
            </a:pPr>
            <a:r>
              <a:t>Three takeaways</a:t>
            </a:r>
          </a:p>
          <a:p>
            <a:pPr>
              <a:spcAft>
                <a:spcPts val="1000"/>
              </a:spcAft>
            </a:pPr>
            <a:r>
              <a:rPr sz="950" b="1">
                <a:solidFill>
                  <a:srgbClr val="0EA5E9"/>
                </a:solidFill>
              </a:rPr>
              <a:t>① Strong canonical accuracy
</a:t>
            </a:r>
            <a:r>
              <a:rPr sz="850">
                <a:solidFill>
                  <a:srgbClr val="CBD5E1"/>
                </a:solidFill>
              </a:rPr>
              <a:t>r=0.88 on Takayuki · 0.80 on Huesken — outperforms classical heuristics without GPU transformers.</a:t>
            </a:r>
          </a:p>
          <a:p>
            <a:pPr>
              <a:spcAft>
                <a:spcPts val="1000"/>
              </a:spcAft>
            </a:pPr>
            <a:r>
              <a:rPr sz="950" b="1">
                <a:solidFill>
                  <a:srgbClr val="F43F5E"/>
                </a:solidFill>
              </a:rPr>
              <a:t>② Negative control verified
</a:t>
            </a:r>
            <a:r>
              <a:rPr sz="850">
                <a:solidFill>
                  <a:srgbClr val="CBD5E1"/>
                </a:solidFill>
              </a:rPr>
              <a:t>CatBoost v4 on naked Huesken drops to r = -0.0421 — chemistry models must NOT be applied to canonical</a:t>
            </a:r>
          </a:p>
          <a:p>
            <a:pPr>
              <a:spcAft>
                <a:spcPts val="1000"/>
              </a:spcAft>
            </a:pPr>
            <a:r>
              <a:rPr sz="950" b="1">
                <a:solidFill>
                  <a:srgbClr val="14B8A6"/>
                </a:solidFill>
              </a:rPr>
              <a:t>③ Strong binary discrimination
</a:t>
            </a:r>
            <a:r>
              <a:rPr sz="850">
                <a:solidFill>
                  <a:srgbClr val="CBD5E1"/>
                </a:solidFill>
              </a:rPr>
              <a:t>ROC-AUC &gt; 0.90 on every benchmark. Effective at the &gt; 70% knockdown threshold for hit triage.</a:t>
            </a:r>
          </a:p>
        </p:txBody>
      </p:sp>
      <p:sp>
        <p:nvSpPr>
          <p:cNvPr id="8" name="TextBox 7"/>
          <p:cNvSpPr txBox="1"/>
          <p:nvPr/>
        </p:nvSpPr>
        <p:spPr>
          <a:xfrm>
            <a:off x="731520" y="6035040"/>
            <a:ext cx="10789920" cy="274320"/>
          </a:xfrm>
          <a:prstGeom prst="rect">
            <a:avLst/>
          </a:prstGeom>
          <a:noFill/>
        </p:spPr>
        <p:txBody>
          <a:bodyPr wrap="none">
            <a:spAutoFit/>
          </a:bodyPr>
          <a:lstStyle/>
          <a:p>
            <a:pPr>
              <a:defRPr sz="850" i="1">
                <a:solidFill>
                  <a:srgbClr val="94A3B8"/>
                </a:solidFill>
              </a:defRPr>
            </a:pPr>
            <a:r>
              <a:t>Splits are partitioned with GroupKFold on the antisense sequence. Zero cross-leakage across the train/test boundary.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MODIFIED DUPLEX BENCHMARKS</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When naked models </a:t>
            </a:r>
            <a:r>
              <a:rPr sz="2400" b="1">
                <a:solidFill>
                  <a:srgbClr val="F43F5E"/>
                </a:solidFill>
              </a:rPr>
              <a:t>collapse</a:t>
            </a:r>
            <a:r>
              <a:rPr sz="2400" b="1">
                <a:solidFill>
                  <a:srgbClr val="F8FAFC"/>
                </a:solidFill>
              </a:rPr>
              <a:t>, chemistry rescues</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Same evaluation, but on chemically modified duplexes. The 420 positional chemistry flags do most of the heavy lifting.</a:t>
            </a:r>
          </a:p>
        </p:txBody>
      </p:sp>
      <p:graphicFrame>
        <p:nvGraphicFramePr>
          <p:cNvPr id="6" name="Table 5"/>
          <p:cNvGraphicFramePr>
            <a:graphicFrameLocks noGrp="1"/>
          </p:cNvGraphicFramePr>
          <p:nvPr/>
        </p:nvGraphicFramePr>
        <p:xfrm>
          <a:off x="731520" y="1645920"/>
          <a:ext cx="6858000" cy="2377440"/>
        </p:xfrm>
        <a:graphic>
          <a:graphicData uri="http://schemas.openxmlformats.org/drawingml/2006/table">
            <a:tbl>
              <a:tblPr firstRow="1" bandRow="1">
                <a:tableStyleId>{5C22544A-7EE6-4342-B048-85BDC9FD1C3A}</a:tableStyleId>
              </a:tblPr>
              <a:tblGrid>
                <a:gridCol w="2286000"/>
                <a:gridCol w="1828800"/>
                <a:gridCol w="548640"/>
                <a:gridCol w="731520"/>
                <a:gridCol w="731520"/>
                <a:gridCol w="731520"/>
              </a:tblGrid>
              <a:tr h="475488">
                <a:tc>
                  <a:txBody>
                    <a:bodyPr/>
                    <a:lstStyle/>
                    <a:p>
                      <a:pPr>
                        <a:defRPr sz="750" b="1">
                          <a:solidFill>
                            <a:srgbClr val="94A3B8"/>
                          </a:solidFill>
                        </a:defRPr>
                      </a:pPr>
                      <a:r>
                        <a:t>MODIFIED DATASET</a:t>
                      </a:r>
                    </a:p>
                  </a:txBody>
                  <a:tcPr>
                    <a:solidFill>
                      <a:srgbClr val="0D1626"/>
                    </a:solidFill>
                  </a:tcPr>
                </a:tc>
                <a:tc>
                  <a:txBody>
                    <a:bodyPr/>
                    <a:lstStyle/>
                    <a:p>
                      <a:pPr>
                        <a:defRPr sz="750" b="1">
                          <a:solidFill>
                            <a:srgbClr val="94A3B8"/>
                          </a:solidFill>
                        </a:defRPr>
                      </a:pPr>
                      <a:r>
                        <a:t>MODEL</a:t>
                      </a:r>
                    </a:p>
                  </a:txBody>
                  <a:tcPr>
                    <a:solidFill>
                      <a:srgbClr val="0D1626"/>
                    </a:solidFill>
                  </a:tcPr>
                </a:tc>
                <a:tc>
                  <a:txBody>
                    <a:bodyPr/>
                    <a:lstStyle/>
                    <a:p>
                      <a:pPr>
                        <a:defRPr sz="750" b="1">
                          <a:solidFill>
                            <a:srgbClr val="94A3B8"/>
                          </a:solidFill>
                        </a:defRPr>
                      </a:pPr>
                      <a:r>
                        <a:t>N</a:t>
                      </a:r>
                    </a:p>
                  </a:txBody>
                  <a:tcPr>
                    <a:solidFill>
                      <a:srgbClr val="0D1626"/>
                    </a:solidFill>
                  </a:tcPr>
                </a:tc>
                <a:tc>
                  <a:txBody>
                    <a:bodyPr/>
                    <a:lstStyle/>
                    <a:p>
                      <a:pPr>
                        <a:defRPr sz="750" b="1">
                          <a:solidFill>
                            <a:srgbClr val="94A3B8"/>
                          </a:solidFill>
                        </a:defRPr>
                      </a:pPr>
                      <a:r>
                        <a:t>PEARSON R</a:t>
                      </a:r>
                    </a:p>
                  </a:txBody>
                  <a:tcPr>
                    <a:solidFill>
                      <a:srgbClr val="0D1626"/>
                    </a:solidFill>
                  </a:tcPr>
                </a:tc>
                <a:tc>
                  <a:txBody>
                    <a:bodyPr/>
                    <a:lstStyle/>
                    <a:p>
                      <a:pPr>
                        <a:defRPr sz="750" b="1">
                          <a:solidFill>
                            <a:srgbClr val="94A3B8"/>
                          </a:solidFill>
                        </a:defRPr>
                      </a:pPr>
                      <a:r>
                        <a:t>SPEARMAN P</a:t>
                      </a:r>
                    </a:p>
                  </a:txBody>
                  <a:tcPr>
                    <a:solidFill>
                      <a:srgbClr val="0D1626"/>
                    </a:solidFill>
                  </a:tcPr>
                </a:tc>
                <a:tc>
                  <a:txBody>
                    <a:bodyPr/>
                    <a:lstStyle/>
                    <a:p>
                      <a:pPr>
                        <a:defRPr sz="750" b="1">
                          <a:solidFill>
                            <a:srgbClr val="94A3B8"/>
                          </a:solidFill>
                        </a:defRPr>
                      </a:pPr>
                      <a:r>
                        <a:t>ROC-AUC</a:t>
                      </a:r>
                    </a:p>
                  </a:txBody>
                  <a:tcPr>
                    <a:solidFill>
                      <a:srgbClr val="0D1626"/>
                    </a:solidFill>
                  </a:tcPr>
                </a:tc>
              </a:tr>
              <a:tr h="475488">
                <a:tc>
                  <a:txBody>
                    <a:bodyPr/>
                    <a:lstStyle/>
                    <a:p>
                      <a:pPr>
                        <a:defRPr sz="850">
                          <a:solidFill>
                            <a:srgbClr val="F8FAFC"/>
                          </a:solidFill>
                        </a:defRPr>
                      </a:pPr>
                      <a:r>
                        <a:t>CMsiRNAdb 10 nM subset</a:t>
                      </a:r>
                    </a:p>
                  </a:txBody>
                  <a:tcPr>
                    <a:solidFill>
                      <a:srgbClr val="0D1626"/>
                    </a:solidFill>
                  </a:tcPr>
                </a:tc>
                <a:tc>
                  <a:txBody>
                    <a:bodyPr/>
                    <a:lstStyle/>
                    <a:p>
                      <a:pPr>
                        <a:defRPr sz="850">
                          <a:solidFill>
                            <a:srgbClr val="F8FAFC"/>
                          </a:solidFill>
                        </a:defRPr>
                      </a:pPr>
                      <a:r>
                        <a:t>CatBoost v4 (chemistry)</a:t>
                      </a:r>
                    </a:p>
                  </a:txBody>
                  <a:tcPr>
                    <a:solidFill>
                      <a:srgbClr val="0D1626"/>
                    </a:solidFill>
                  </a:tcPr>
                </a:tc>
                <a:tc>
                  <a:txBody>
                    <a:bodyPr/>
                    <a:lstStyle/>
                    <a:p>
                      <a:pPr>
                        <a:defRPr sz="850">
                          <a:solidFill>
                            <a:srgbClr val="CBD5E1"/>
                          </a:solidFill>
                        </a:defRPr>
                      </a:pPr>
                      <a:r>
                        <a:t>472</a:t>
                      </a:r>
                    </a:p>
                  </a:txBody>
                  <a:tcPr>
                    <a:solidFill>
                      <a:srgbClr val="0D1626"/>
                    </a:solidFill>
                  </a:tcPr>
                </a:tc>
                <a:tc>
                  <a:txBody>
                    <a:bodyPr/>
                    <a:lstStyle/>
                    <a:p>
                      <a:pPr>
                        <a:defRPr sz="850" b="1">
                          <a:solidFill>
                            <a:srgbClr val="0EA5E9"/>
                          </a:solidFill>
                        </a:defRPr>
                      </a:pPr>
                      <a:r>
                        <a:t>0.7401</a:t>
                      </a:r>
                    </a:p>
                  </a:txBody>
                  <a:tcPr>
                    <a:solidFill>
                      <a:srgbClr val="0D1626"/>
                    </a:solidFill>
                  </a:tcPr>
                </a:tc>
                <a:tc>
                  <a:txBody>
                    <a:bodyPr/>
                    <a:lstStyle/>
                    <a:p>
                      <a:pPr>
                        <a:defRPr sz="850">
                          <a:solidFill>
                            <a:srgbClr val="CBD5E1"/>
                          </a:solidFill>
                        </a:defRPr>
                      </a:pPr>
                      <a:r>
                        <a:t>0.7540</a:t>
                      </a:r>
                    </a:p>
                  </a:txBody>
                  <a:tcPr>
                    <a:solidFill>
                      <a:srgbClr val="0D1626"/>
                    </a:solidFill>
                  </a:tcPr>
                </a:tc>
                <a:tc>
                  <a:txBody>
                    <a:bodyPr/>
                    <a:lstStyle/>
                    <a:p>
                      <a:pPr>
                        <a:defRPr sz="850">
                          <a:solidFill>
                            <a:srgbClr val="CBD5E1"/>
                          </a:solidFill>
                        </a:defRPr>
                      </a:pPr>
                      <a:r>
                        <a:t>0.8745</a:t>
                      </a:r>
                    </a:p>
                  </a:txBody>
                  <a:tcPr>
                    <a:solidFill>
                      <a:srgbClr val="0D1626"/>
                    </a:solidFill>
                  </a:tcPr>
                </a:tc>
              </a:tr>
              <a:tr h="475488">
                <a:tc>
                  <a:txBody>
                    <a:bodyPr/>
                    <a:lstStyle/>
                    <a:p>
                      <a:pPr>
                        <a:defRPr sz="850">
                          <a:solidFill>
                            <a:srgbClr val="CBD5E1"/>
                          </a:solidFill>
                        </a:defRPr>
                      </a:pPr>
                      <a:r>
                        <a:t>CMsiRNAdb 10 nM subset</a:t>
                      </a:r>
                    </a:p>
                  </a:txBody>
                  <a:tcPr>
                    <a:solidFill>
                      <a:srgbClr val="0D1626"/>
                    </a:solidFill>
                  </a:tcPr>
                </a:tc>
                <a:tc>
                  <a:txBody>
                    <a:bodyPr/>
                    <a:lstStyle/>
                    <a:p>
                      <a:pPr>
                        <a:defRPr sz="850">
                          <a:solidFill>
                            <a:srgbClr val="F43F5E"/>
                          </a:solidFill>
                        </a:defRPr>
                      </a:pPr>
                      <a:r>
                        <a:t>LightGBM (naked baseline)</a:t>
                      </a:r>
                    </a:p>
                  </a:txBody>
                  <a:tcPr>
                    <a:solidFill>
                      <a:srgbClr val="0D1626"/>
                    </a:solidFill>
                  </a:tcPr>
                </a:tc>
                <a:tc>
                  <a:txBody>
                    <a:bodyPr/>
                    <a:lstStyle/>
                    <a:p>
                      <a:pPr>
                        <a:defRPr sz="850">
                          <a:solidFill>
                            <a:srgbClr val="CBD5E1"/>
                          </a:solidFill>
                        </a:defRPr>
                      </a:pPr>
                      <a:r>
                        <a:t>472</a:t>
                      </a:r>
                    </a:p>
                  </a:txBody>
                  <a:tcPr>
                    <a:solidFill>
                      <a:srgbClr val="0D1626"/>
                    </a:solidFill>
                  </a:tcPr>
                </a:tc>
                <a:tc>
                  <a:txBody>
                    <a:bodyPr/>
                    <a:lstStyle/>
                    <a:p>
                      <a:pPr>
                        <a:defRPr sz="850" b="1">
                          <a:solidFill>
                            <a:srgbClr val="F43F5E"/>
                          </a:solidFill>
                        </a:defRPr>
                      </a:pPr>
                      <a:r>
                        <a:t>0.2070</a:t>
                      </a:r>
                    </a:p>
                  </a:txBody>
                  <a:tcPr>
                    <a:solidFill>
                      <a:srgbClr val="0D1626"/>
                    </a:solidFill>
                  </a:tcPr>
                </a:tc>
                <a:tc>
                  <a:txBody>
                    <a:bodyPr/>
                    <a:lstStyle/>
                    <a:p>
                      <a:pPr>
                        <a:defRPr sz="850">
                          <a:solidFill>
                            <a:srgbClr val="CBD5E1"/>
                          </a:solidFill>
                        </a:defRPr>
                      </a:pPr>
                      <a:r>
                        <a:t>0.1885</a:t>
                      </a:r>
                    </a:p>
                  </a:txBody>
                  <a:tcPr>
                    <a:solidFill>
                      <a:srgbClr val="0D1626"/>
                    </a:solidFill>
                  </a:tcPr>
                </a:tc>
                <a:tc>
                  <a:txBody>
                    <a:bodyPr/>
                    <a:lstStyle/>
                    <a:p>
                      <a:pPr>
                        <a:defRPr sz="850">
                          <a:solidFill>
                            <a:srgbClr val="CBD5E1"/>
                          </a:solidFill>
                        </a:defRPr>
                      </a:pPr>
                      <a:r>
                        <a:t>0.5841</a:t>
                      </a:r>
                    </a:p>
                  </a:txBody>
                  <a:tcPr>
                    <a:solidFill>
                      <a:srgbClr val="0D1626"/>
                    </a:solidFill>
                  </a:tcPr>
                </a:tc>
              </a:tr>
              <a:tr h="475488">
                <a:tc>
                  <a:txBody>
                    <a:bodyPr/>
                    <a:lstStyle/>
                    <a:p>
                      <a:pPr>
                        <a:defRPr sz="850">
                          <a:solidFill>
                            <a:srgbClr val="F8FAFC"/>
                          </a:solidFill>
                        </a:defRPr>
                      </a:pPr>
                      <a:r>
                        <a:t>CMsiRNAdb heterogeneous master</a:t>
                      </a:r>
                    </a:p>
                  </a:txBody>
                  <a:tcPr>
                    <a:solidFill>
                      <a:srgbClr val="0D1626"/>
                    </a:solidFill>
                  </a:tcPr>
                </a:tc>
                <a:tc>
                  <a:txBody>
                    <a:bodyPr/>
                    <a:lstStyle/>
                    <a:p>
                      <a:pPr>
                        <a:defRPr sz="850">
                          <a:solidFill>
                            <a:srgbClr val="F8FAFC"/>
                          </a:solidFill>
                        </a:defRPr>
                      </a:pPr>
                      <a:r>
                        <a:t>CatBoost v4 (chemistry)</a:t>
                      </a:r>
                    </a:p>
                  </a:txBody>
                  <a:tcPr>
                    <a:solidFill>
                      <a:srgbClr val="0D1626"/>
                    </a:solidFill>
                  </a:tcPr>
                </a:tc>
                <a:tc>
                  <a:txBody>
                    <a:bodyPr/>
                    <a:lstStyle/>
                    <a:p>
                      <a:pPr>
                        <a:defRPr sz="850">
                          <a:solidFill>
                            <a:srgbClr val="CBD5E1"/>
                          </a:solidFill>
                        </a:defRPr>
                      </a:pPr>
                      <a:r>
                        <a:t>2,576</a:t>
                      </a:r>
                    </a:p>
                  </a:txBody>
                  <a:tcPr>
                    <a:solidFill>
                      <a:srgbClr val="0D1626"/>
                    </a:solidFill>
                  </a:tcPr>
                </a:tc>
                <a:tc>
                  <a:txBody>
                    <a:bodyPr/>
                    <a:lstStyle/>
                    <a:p>
                      <a:pPr>
                        <a:defRPr sz="850" b="1">
                          <a:solidFill>
                            <a:srgbClr val="0EA5E9"/>
                          </a:solidFill>
                        </a:defRPr>
                      </a:pPr>
                      <a:r>
                        <a:t>0.6217</a:t>
                      </a:r>
                    </a:p>
                  </a:txBody>
                  <a:tcPr>
                    <a:solidFill>
                      <a:srgbClr val="0D1626"/>
                    </a:solidFill>
                  </a:tcPr>
                </a:tc>
                <a:tc>
                  <a:txBody>
                    <a:bodyPr/>
                    <a:lstStyle/>
                    <a:p>
                      <a:pPr>
                        <a:defRPr sz="850">
                          <a:solidFill>
                            <a:srgbClr val="CBD5E1"/>
                          </a:solidFill>
                        </a:defRPr>
                      </a:pPr>
                      <a:r>
                        <a:t>0.6049</a:t>
                      </a:r>
                    </a:p>
                  </a:txBody>
                  <a:tcPr>
                    <a:solidFill>
                      <a:srgbClr val="0D1626"/>
                    </a:solidFill>
                  </a:tcPr>
                </a:tc>
                <a:tc>
                  <a:txBody>
                    <a:bodyPr/>
                    <a:lstStyle/>
                    <a:p>
                      <a:pPr>
                        <a:defRPr sz="850">
                          <a:solidFill>
                            <a:srgbClr val="CBD5E1"/>
                          </a:solidFill>
                        </a:defRPr>
                      </a:pPr>
                      <a:r>
                        <a:t>0.8077</a:t>
                      </a:r>
                    </a:p>
                  </a:txBody>
                  <a:tcPr>
                    <a:solidFill>
                      <a:srgbClr val="0D1626"/>
                    </a:solidFill>
                  </a:tcPr>
                </a:tc>
              </a:tr>
              <a:tr h="475488">
                <a:tc>
                  <a:txBody>
                    <a:bodyPr/>
                    <a:lstStyle/>
                    <a:p>
                      <a:pPr>
                        <a:defRPr sz="850">
                          <a:solidFill>
                            <a:srgbClr val="F8FAFC"/>
                          </a:solidFill>
                        </a:defRPr>
                      </a:pPr>
                      <a:r>
                        <a:t>CMsiRNAdb sampled master</a:t>
                      </a:r>
                    </a:p>
                  </a:txBody>
                  <a:tcPr>
                    <a:solidFill>
                      <a:srgbClr val="0D1626"/>
                    </a:solidFill>
                  </a:tcPr>
                </a:tc>
                <a:tc>
                  <a:txBody>
                    <a:bodyPr/>
                    <a:lstStyle/>
                    <a:p>
                      <a:pPr>
                        <a:defRPr sz="850">
                          <a:solidFill>
                            <a:srgbClr val="F8FAFC"/>
                          </a:solidFill>
                        </a:defRPr>
                      </a:pPr>
                      <a:r>
                        <a:t>CatBoost v4 (chemistry)</a:t>
                      </a:r>
                    </a:p>
                  </a:txBody>
                  <a:tcPr>
                    <a:solidFill>
                      <a:srgbClr val="0D1626"/>
                    </a:solidFill>
                  </a:tcPr>
                </a:tc>
                <a:tc>
                  <a:txBody>
                    <a:bodyPr/>
                    <a:lstStyle/>
                    <a:p>
                      <a:pPr>
                        <a:defRPr sz="850">
                          <a:solidFill>
                            <a:srgbClr val="CBD5E1"/>
                          </a:solidFill>
                        </a:defRPr>
                      </a:pPr>
                      <a:r>
                        <a:t>5,000</a:t>
                      </a:r>
                    </a:p>
                  </a:txBody>
                  <a:tcPr>
                    <a:solidFill>
                      <a:srgbClr val="0D1626"/>
                    </a:solidFill>
                  </a:tcPr>
                </a:tc>
                <a:tc>
                  <a:txBody>
                    <a:bodyPr/>
                    <a:lstStyle/>
                    <a:p>
                      <a:pPr>
                        <a:defRPr sz="850" b="1">
                          <a:solidFill>
                            <a:srgbClr val="0EA5E9"/>
                          </a:solidFill>
                        </a:defRPr>
                      </a:pPr>
                      <a:r>
                        <a:t>0.6341</a:t>
                      </a:r>
                    </a:p>
                  </a:txBody>
                  <a:tcPr>
                    <a:solidFill>
                      <a:srgbClr val="0D1626"/>
                    </a:solidFill>
                  </a:tcPr>
                </a:tc>
                <a:tc>
                  <a:txBody>
                    <a:bodyPr/>
                    <a:lstStyle/>
                    <a:p>
                      <a:pPr>
                        <a:defRPr sz="850">
                          <a:solidFill>
                            <a:srgbClr val="CBD5E1"/>
                          </a:solidFill>
                        </a:defRPr>
                      </a:pPr>
                      <a:r>
                        <a:t>0.6225</a:t>
                      </a:r>
                    </a:p>
                  </a:txBody>
                  <a:tcPr>
                    <a:solidFill>
                      <a:srgbClr val="0D1626"/>
                    </a:solidFill>
                  </a:tcPr>
                </a:tc>
                <a:tc>
                  <a:txBody>
                    <a:bodyPr/>
                    <a:lstStyle/>
                    <a:p>
                      <a:pPr>
                        <a:defRPr sz="850">
                          <a:solidFill>
                            <a:srgbClr val="CBD5E1"/>
                          </a:solidFill>
                        </a:defRPr>
                      </a:pPr>
                      <a:r>
                        <a:t>0.8045</a:t>
                      </a:r>
                    </a:p>
                  </a:txBody>
                  <a:tcPr>
                    <a:solidFill>
                      <a:srgbClr val="0D1626"/>
                    </a:solidFill>
                  </a:tcPr>
                </a:tc>
              </a:tr>
            </a:tbl>
          </a:graphicData>
        </a:graphic>
      </p:graphicFrame>
      <p:sp>
        <p:nvSpPr>
          <p:cNvPr id="7" name="Rounded Rectangle 6"/>
          <p:cNvSpPr/>
          <p:nvPr/>
        </p:nvSpPr>
        <p:spPr>
          <a:xfrm>
            <a:off x="7772400" y="1645920"/>
            <a:ext cx="3687775" cy="429768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82880" wrap="square"/>
          <a:lstStyle/>
          <a:p>
            <a:pPr algn="ctr">
              <a:defRPr sz="850" b="1">
                <a:solidFill>
                  <a:srgbClr val="F43F5E"/>
                </a:solidFill>
              </a:defRPr>
            </a:pPr>
            <a:r>
              <a:t>WHY THIS MATTERS</a:t>
            </a:r>
          </a:p>
          <a:p>
            <a:pPr>
              <a:spcAft>
                <a:spcPts val="800"/>
              </a:spcAft>
              <a:defRPr sz="1300" b="1">
                <a:solidFill>
                  <a:srgbClr val="F8FAFC"/>
                </a:solidFill>
              </a:defRPr>
            </a:pPr>
            <a:r>
              <a:t>The canonical collapse paradox</a:t>
            </a:r>
          </a:p>
          <a:p>
            <a:pPr>
              <a:spcAft>
                <a:spcPts val="1400"/>
              </a:spcAft>
              <a:defRPr sz="850">
                <a:solidFill>
                  <a:srgbClr val="CBD5E1"/>
                </a:solidFill>
              </a:defRPr>
            </a:pPr>
            <a:r>
              <a:t>Same duplexes · two readings</a:t>
            </a:r>
            <a:br/>
            <a:r>
              <a:t>LightGBM naked baseline: 0.2070 correlation. Chemistry-aware CatBoost on the same 472 duplexes: 0.7401. A +0.533 swing from chemistry alone.</a:t>
            </a:r>
          </a:p>
          <a:p>
            <a:pPr>
              <a:defRPr sz="800" b="1">
                <a:solidFill>
                  <a:srgbClr val="0EA5E9"/>
                </a:solidFill>
              </a:defRPr>
            </a:pPr>
            <a:r>
              <a:t>CORRELATION GAIN</a:t>
            </a:r>
          </a:p>
          <a:p>
            <a:pPr>
              <a:defRPr sz="3200" b="1">
                <a:solidFill>
                  <a:srgbClr val="14B8A6"/>
                </a:solidFill>
              </a:defRPr>
            </a:pPr>
            <a:r>
              <a:t>+0.533</a:t>
            </a:r>
          </a:p>
          <a:p>
            <a:pPr>
              <a:spcAft>
                <a:spcPts val="1400"/>
              </a:spcAft>
              <a:defRPr sz="800">
                <a:solidFill>
                  <a:srgbClr val="CBD5E1"/>
                </a:solidFill>
              </a:defRPr>
            </a:pPr>
            <a:r>
              <a:t>on the same 472 duplexes</a:t>
            </a:r>
          </a:p>
          <a:p>
            <a:pPr>
              <a:defRPr sz="819">
                <a:solidFill>
                  <a:srgbClr val="94A3B8"/>
                </a:solidFill>
              </a:defRPr>
            </a:pPr>
            <a:r>
              <a:t>CatBoost v4 also generalizes: across 2,576 duplexes spanning 90 patent disclosures, r stays at 0.6217.</a:t>
            </a:r>
          </a:p>
        </p:txBody>
      </p:sp>
      <p:sp>
        <p:nvSpPr>
          <p:cNvPr id="8" name="TextBox 7"/>
          <p:cNvSpPr txBox="1"/>
          <p:nvPr/>
        </p:nvSpPr>
        <p:spPr>
          <a:xfrm>
            <a:off x="731520" y="6035040"/>
            <a:ext cx="10789920" cy="274320"/>
          </a:xfrm>
          <a:prstGeom prst="rect">
            <a:avLst/>
          </a:prstGeom>
          <a:noFill/>
        </p:spPr>
        <p:txBody>
          <a:bodyPr wrap="none">
            <a:spAutoFit/>
          </a:bodyPr>
          <a:lstStyle/>
          <a:p>
            <a:pPr>
              <a:defRPr sz="850" i="1">
                <a:solidFill>
                  <a:srgbClr val="94A3B8"/>
                </a:solidFill>
              </a:defRPr>
            </a:pPr>
            <a:r>
              <a:t>RMSE drops from 41 pp (naked) to 22.7 pp (chemistry) on heterogeneous patent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MODEL INTERPRETABILITY</a:t>
            </a:r>
          </a:p>
        </p:txBody>
      </p:sp>
      <p:sp>
        <p:nvSpPr>
          <p:cNvPr id="4" name="TextBox 3"/>
          <p:cNvSpPr txBox="1"/>
          <p:nvPr/>
        </p:nvSpPr>
        <p:spPr>
          <a:xfrm>
            <a:off x="731520" y="640080"/>
            <a:ext cx="10789920" cy="548640"/>
          </a:xfrm>
          <a:prstGeom prst="rect">
            <a:avLst/>
          </a:prstGeom>
          <a:noFill/>
        </p:spPr>
        <p:txBody>
          <a:bodyPr wrap="none">
            <a:spAutoFit/>
          </a:bodyPr>
          <a:lstStyle/>
          <a:p>
            <a:pPr>
              <a:defRPr sz="2400" b="1">
                <a:solidFill>
                  <a:srgbClr val="F8FAFC"/>
                </a:solidFill>
              </a:defRPr>
            </a:pPr>
            <a:r>
              <a:t>Ablating features, stratifying by chemistry</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Removing feature blocks reveals what each layer contributes. Stratifying by chemical family shows generalization across chemistries.</a:t>
            </a:r>
          </a:p>
        </p:txBody>
      </p:sp>
      <p:sp>
        <p:nvSpPr>
          <p:cNvPr id="6" name="Rounded Rectangle 5"/>
          <p:cNvSpPr/>
          <p:nvPr/>
        </p:nvSpPr>
        <p:spPr>
          <a:xfrm>
            <a:off x="731520" y="1645920"/>
            <a:ext cx="53035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64592" wrap="square"/>
          <a:lstStyle/>
          <a:p>
            <a:pPr algn="ctr">
              <a:spcAft>
                <a:spcPts val="800"/>
              </a:spcAft>
              <a:defRPr sz="1200" b="1">
                <a:solidFill>
                  <a:srgbClr val="F8FAFC"/>
                </a:solidFill>
              </a:defRPr>
            </a:pPr>
            <a:r>
              <a:t>WHAT EACH BLOCK CONTRIBUTES</a:t>
            </a:r>
            <a:br/>
            <a:r>
              <a:t>Feature-block ablation</a:t>
            </a:r>
          </a:p>
          <a:p>
            <a:pPr>
              <a:spcAft>
                <a:spcPts val="400"/>
              </a:spcAft>
            </a:pPr>
            <a:r>
              <a:rPr sz="950" b="1">
                <a:solidFill>
                  <a:srgbClr val="F8FAFC"/>
                </a:solidFill>
              </a:rPr>
              <a:t>Full 577-D model: </a:t>
            </a:r>
            <a:r>
              <a:rPr sz="1000" b="1">
                <a:solidFill>
                  <a:srgbClr val="14B8A6"/>
                </a:solidFill>
              </a:rPr>
              <a:t>0.7401 </a:t>
            </a:r>
            <a:r>
              <a:rPr sz="850">
                <a:solidFill>
                  <a:srgbClr val="CBD5E1"/>
                </a:solidFill>
              </a:rPr>
              <a:t>(reference baseline)</a:t>
            </a:r>
          </a:p>
          <a:p>
            <a:pPr>
              <a:spcAft>
                <a:spcPts val="400"/>
              </a:spcAft>
            </a:pPr>
            <a:r>
              <a:rPr sz="950" b="1">
                <a:solidFill>
                  <a:srgbClr val="F8FAFC"/>
                </a:solidFill>
              </a:rPr>
              <a:t>No chemistry flags: </a:t>
            </a:r>
            <a:r>
              <a:rPr sz="1000" b="1">
                <a:solidFill>
                  <a:srgbClr val="F43F5E"/>
                </a:solidFill>
              </a:rPr>
              <a:t>0.4120 </a:t>
            </a:r>
            <a:r>
              <a:rPr sz="850">
                <a:solidFill>
                  <a:srgbClr val="CBD5E1"/>
                </a:solidFill>
              </a:rPr>
              <a:t>(-0.328 (collapses))</a:t>
            </a:r>
          </a:p>
          <a:p>
            <a:pPr>
              <a:spcAft>
                <a:spcPts val="400"/>
              </a:spcAft>
            </a:pPr>
            <a:r>
              <a:rPr sz="950" b="1">
                <a:solidFill>
                  <a:srgbClr val="F8FAFC"/>
                </a:solidFill>
              </a:rPr>
              <a:t>No foundation models: </a:t>
            </a:r>
            <a:r>
              <a:rPr sz="1000" b="1">
                <a:solidFill>
                  <a:srgbClr val="A855F7"/>
                </a:solidFill>
              </a:rPr>
              <a:t>0.6912 </a:t>
            </a:r>
            <a:r>
              <a:rPr sz="850">
                <a:solidFill>
                  <a:srgbClr val="CBD5E1"/>
                </a:solidFill>
              </a:rPr>
              <a:t>(-0.049 vs baseline)</a:t>
            </a:r>
          </a:p>
          <a:p>
            <a:pPr>
              <a:spcAft>
                <a:spcPts val="400"/>
              </a:spcAft>
            </a:pPr>
            <a:r>
              <a:rPr sz="950" b="1">
                <a:solidFill>
                  <a:srgbClr val="F8FAFC"/>
                </a:solidFill>
              </a:rPr>
              <a:t>No thermodynamics: </a:t>
            </a:r>
            <a:r>
              <a:rPr sz="1000" b="1">
                <a:solidFill>
                  <a:srgbClr val="F59E0B"/>
                </a:solidFill>
              </a:rPr>
              <a:t>0.7210 </a:t>
            </a:r>
            <a:r>
              <a:rPr sz="850">
                <a:solidFill>
                  <a:srgbClr val="CBD5E1"/>
                </a:solidFill>
              </a:rPr>
              <a:t>(-0.019 vs baseline)</a:t>
            </a:r>
          </a:p>
          <a:p>
            <a:pPr>
              <a:spcAft>
                <a:spcPts val="400"/>
              </a:spcAft>
            </a:pPr>
            <a:r>
              <a:rPr sz="950" b="1">
                <a:solidFill>
                  <a:srgbClr val="F8FAFC"/>
                </a:solidFill>
              </a:rPr>
              <a:t>Legacy one-hot: </a:t>
            </a:r>
            <a:r>
              <a:rPr sz="1000" b="1">
                <a:solidFill>
                  <a:srgbClr val="94A3B8"/>
                </a:solidFill>
              </a:rPr>
              <a:t>0.2450 </a:t>
            </a:r>
            <a:r>
              <a:rPr sz="850">
                <a:solidFill>
                  <a:srgbClr val="CBD5E1"/>
                </a:solidFill>
              </a:rPr>
              <a:t>(-0.495 (catastrophic))</a:t>
            </a:r>
          </a:p>
          <a:p>
            <a:pPr>
              <a:spcBef>
                <a:spcPts val="1000"/>
              </a:spcBef>
              <a:defRPr sz="800" b="1">
                <a:solidFill>
                  <a:srgbClr val="14B8A6"/>
                </a:solidFill>
              </a:defRPr>
            </a:pPr>
            <a:r>
              <a:t>THE HEADLINE ABLATION FINDING</a:t>
            </a:r>
          </a:p>
          <a:p>
            <a:pPr>
              <a:defRPr sz="850">
                <a:solidFill>
                  <a:srgbClr val="CBD5E1"/>
                </a:solidFill>
              </a:defRPr>
            </a:pPr>
            <a:r>
              <a:t>Removing the 420 chemistry flags costs 0.328 correlation points — 6.7× larger than removing the rest combined.</a:t>
            </a:r>
            <a:br/>
            <a:r>
              <a:t>Positional chemistry is the single most important signal in the entire vector — far ahead of foundation models and thermodynamics.</a:t>
            </a:r>
          </a:p>
        </p:txBody>
      </p:sp>
      <p:sp>
        <p:nvSpPr>
          <p:cNvPr id="7" name="Rounded Rectangle 6"/>
          <p:cNvSpPr/>
          <p:nvPr/>
        </p:nvSpPr>
        <p:spPr>
          <a:xfrm>
            <a:off x="6217920" y="1645920"/>
            <a:ext cx="5242255"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64592" wrap="square"/>
          <a:lstStyle/>
          <a:p>
            <a:pPr algn="ctr">
              <a:spcAft>
                <a:spcPts val="800"/>
              </a:spcAft>
              <a:defRPr sz="1200" b="1">
                <a:solidFill>
                  <a:srgbClr val="F8FAFC"/>
                </a:solidFill>
              </a:defRPr>
            </a:pPr>
            <a:r>
              <a:t>PER CHEMICAL FAMILY · Pearson on 10 nM CMsiRNAdb</a:t>
            </a:r>
            <a:br/>
            <a:r>
              <a:t>Stratified correlation</a:t>
            </a:r>
          </a:p>
          <a:p>
            <a:pPr>
              <a:spcAft>
                <a:spcPts val="600"/>
              </a:spcAft>
            </a:pPr>
            <a:r>
              <a:rPr sz="950" b="1">
                <a:solidFill>
                  <a:srgbClr val="F8FAFC"/>
                </a:solidFill>
              </a:rPr>
              <a:t>2'-OMe (N = 6,533)  ──▶  </a:t>
            </a:r>
            <a:r>
              <a:rPr sz="1100" b="1">
                <a:solidFill>
                  <a:srgbClr val="0EA5E9"/>
                </a:solidFill>
              </a:rPr>
              <a:t>r = 0.8603</a:t>
            </a:r>
          </a:p>
          <a:p>
            <a:pPr>
              <a:spcAft>
                <a:spcPts val="600"/>
              </a:spcAft>
            </a:pPr>
            <a:r>
              <a:rPr sz="950" b="1">
                <a:solidFill>
                  <a:srgbClr val="F8FAFC"/>
                </a:solidFill>
              </a:rPr>
              <a:t>2'-F (N = 33,069)  ──▶  </a:t>
            </a:r>
            <a:r>
              <a:rPr sz="1100" b="1">
                <a:solidFill>
                  <a:srgbClr val="14B8A6"/>
                </a:solidFill>
              </a:rPr>
              <a:t>r = 0.8221</a:t>
            </a:r>
          </a:p>
          <a:p>
            <a:pPr>
              <a:spcAft>
                <a:spcPts val="600"/>
              </a:spcAft>
            </a:pPr>
            <a:r>
              <a:rPr sz="950" b="1">
                <a:solidFill>
                  <a:srgbClr val="F8FAFC"/>
                </a:solidFill>
              </a:rPr>
              <a:t>Phosphorothioate (N = 34,347)  ──▶  </a:t>
            </a:r>
            <a:r>
              <a:rPr sz="1100" b="1">
                <a:solidFill>
                  <a:srgbClr val="A855F7"/>
                </a:solidFill>
              </a:rPr>
              <a:t>r = 0.8137</a:t>
            </a:r>
          </a:p>
          <a:p>
            <a:pPr>
              <a:spcAft>
                <a:spcPts val="600"/>
              </a:spcAft>
            </a:pPr>
            <a:r>
              <a:rPr sz="950" b="1">
                <a:solidFill>
                  <a:srgbClr val="F8FAFC"/>
                </a:solidFill>
              </a:rPr>
              <a:t>LNA (N = 24,952)  ──▶  </a:t>
            </a:r>
            <a:r>
              <a:rPr sz="1100" b="1">
                <a:solidFill>
                  <a:srgbClr val="F59E0B"/>
                </a:solidFill>
              </a:rPr>
              <a:t>r = 0.7990</a:t>
            </a:r>
          </a:p>
          <a:p>
            <a:pPr>
              <a:spcAft>
                <a:spcPts val="600"/>
              </a:spcAft>
            </a:pPr>
            <a:r>
              <a:rPr sz="950" b="1">
                <a:solidFill>
                  <a:srgbClr val="F8FAFC"/>
                </a:solidFill>
              </a:rPr>
              <a:t>2'-MOE (N = 50 (small sample))  ──▶  </a:t>
            </a:r>
            <a:r>
              <a:rPr sz="1100" b="1">
                <a:solidFill>
                  <a:srgbClr val="94A3B8"/>
                </a:solidFill>
              </a:rPr>
              <a:t>r = 0.4190</a:t>
            </a:r>
          </a:p>
          <a:p>
            <a:pPr>
              <a:spcBef>
                <a:spcPts val="1200"/>
              </a:spcBef>
              <a:defRPr sz="850" i="1">
                <a:solidFill>
                  <a:srgbClr val="94A3B8"/>
                </a:solidFill>
              </a:defRPr>
            </a:pPr>
            <a:r>
              <a:t>Strong, consistent correlations across 2'-OMe, 2'-F, phosphorothioate, and LNA cover most clinical design combinations.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EXTERNAL VALIDATION</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Patents and GalNAc delivery — </a:t>
            </a:r>
            <a:r>
              <a:rPr sz="2400" b="1">
                <a:solidFill>
                  <a:srgbClr val="A855F7"/>
                </a:solidFill>
              </a:rPr>
              <a:t>zero-shot</a:t>
            </a:r>
            <a:r>
              <a:rPr sz="2400" b="1">
                <a:solidFill>
                  <a:srgbClr val="F8FAFC"/>
                </a:solidFill>
              </a:rPr>
              <a:t> transfer</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Three blind panels from pharmaceutical disclosures. Each tests whether HelixZero generalizes to chemistry and targeting it has never seen.</a:t>
            </a:r>
          </a:p>
        </p:txBody>
      </p:sp>
      <p:sp>
        <p:nvSpPr>
          <p:cNvPr id="6" name="Rounded Rectangle 5"/>
          <p:cNvSpPr/>
          <p:nvPr/>
        </p:nvSpPr>
        <p:spPr>
          <a:xfrm>
            <a:off x="731520" y="1645920"/>
            <a:ext cx="34747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00" b="1">
                <a:solidFill>
                  <a:srgbClr val="0EA5E9"/>
                </a:solidFill>
              </a:defRPr>
            </a:pPr>
            <a:r>
              <a:t>PANEL 01</a:t>
            </a:r>
          </a:p>
          <a:p>
            <a:pPr>
              <a:defRPr sz="1300" b="1">
                <a:solidFill>
                  <a:srgbClr val="F8FAFC"/>
                </a:solidFill>
              </a:defRPr>
            </a:pPr>
            <a:r>
              <a:t>FENNEC APP patent</a:t>
            </a:r>
          </a:p>
          <a:p>
            <a:pPr>
              <a:spcAft>
                <a:spcPts val="600"/>
              </a:spcAft>
              <a:defRPr sz="800" i="1">
                <a:solidFill>
                  <a:srgbClr val="94A3B8"/>
                </a:solidFill>
              </a:defRPr>
            </a:pPr>
            <a:r>
              <a:t>Alnylam WO2020132227A2</a:t>
            </a:r>
          </a:p>
          <a:p>
            <a:pPr>
              <a:spcAft>
                <a:spcPts val="600"/>
              </a:spcAft>
              <a:defRPr sz="850">
                <a:solidFill>
                  <a:srgbClr val="CBD5E1"/>
                </a:solidFill>
              </a:defRPr>
            </a:pPr>
            <a:r>
              <a:t>TARGET MRNA: Amyloid Precursor Protein (APP) — Alzheimer's</a:t>
            </a:r>
          </a:p>
          <a:p>
            <a:pPr>
              <a:spcAft>
                <a:spcPts val="800"/>
              </a:spcAft>
            </a:pPr>
            <a:r>
              <a:rPr sz="1400" b="1">
                <a:solidFill>
                  <a:srgbClr val="F8FAFC"/>
                </a:solidFill>
              </a:rPr>
              <a:t>N = 343    </a:t>
            </a:r>
            <a:r>
              <a:rPr sz="1400" b="1">
                <a:solidFill>
                  <a:srgbClr val="0EA5E9"/>
                </a:solidFill>
              </a:rPr>
              <a:t>r = 0.7182</a:t>
            </a:r>
          </a:p>
          <a:p>
            <a:pPr>
              <a:spcAft>
                <a:spcPts val="200"/>
              </a:spcAft>
              <a:defRPr sz="800">
                <a:solidFill>
                  <a:srgbClr val="CBD5E1"/>
                </a:solidFill>
              </a:defRPr>
            </a:pPr>
            <a:r>
              <a:t>• Spearman ρ = 0.7095</a:t>
            </a:r>
          </a:p>
          <a:p>
            <a:pPr>
              <a:spcAft>
                <a:spcPts val="200"/>
              </a:spcAft>
              <a:defRPr sz="800">
                <a:solidFill>
                  <a:srgbClr val="CBD5E1"/>
                </a:solidFill>
              </a:defRPr>
            </a:pPr>
            <a:r>
              <a:t>• ROC-AUC = 0.8410</a:t>
            </a:r>
          </a:p>
          <a:p>
            <a:pPr>
              <a:spcAft>
                <a:spcPts val="200"/>
              </a:spcAft>
              <a:defRPr sz="800">
                <a:solidFill>
                  <a:srgbClr val="CBD5E1"/>
                </a:solidFill>
              </a:defRPr>
            </a:pPr>
            <a:r>
              <a:t>• MAE = 15.22 pp · RMSE = 19.84 pp</a:t>
            </a:r>
          </a:p>
          <a:p>
            <a:pPr>
              <a:spcBef>
                <a:spcPts val="800"/>
              </a:spcBef>
              <a:defRPr sz="800">
                <a:solidFill>
                  <a:srgbClr val="94A3B8"/>
                </a:solidFill>
              </a:defRPr>
            </a:pPr>
            <a:r>
              <a:t>SIGNIFICANCE</a:t>
            </a:r>
            <a:br/>
            <a:r>
              <a:t>Zero-shot transfer to proprietary neurodegenerative chemistry. HelixZero ranks APP candidates without ever seeing this patent during training.</a:t>
            </a:r>
          </a:p>
        </p:txBody>
      </p:sp>
      <p:sp>
        <p:nvSpPr>
          <p:cNvPr id="7" name="Rounded Rectangle 6"/>
          <p:cNvSpPr/>
          <p:nvPr/>
        </p:nvSpPr>
        <p:spPr>
          <a:xfrm>
            <a:off x="4343400" y="1645920"/>
            <a:ext cx="34747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00" b="1">
                <a:solidFill>
                  <a:srgbClr val="14B8A6"/>
                </a:solidFill>
              </a:defRPr>
            </a:pPr>
            <a:r>
              <a:t>PANEL 02</a:t>
            </a:r>
          </a:p>
          <a:p>
            <a:pPr>
              <a:defRPr sz="1300" b="1">
                <a:solidFill>
                  <a:srgbClr val="F8FAFC"/>
                </a:solidFill>
              </a:defRPr>
            </a:pPr>
            <a:r>
              <a:t>FENNEC JAK1 patent</a:t>
            </a:r>
          </a:p>
          <a:p>
            <a:pPr>
              <a:spcAft>
                <a:spcPts val="600"/>
              </a:spcAft>
              <a:defRPr sz="800" i="1">
                <a:solidFill>
                  <a:srgbClr val="94A3B8"/>
                </a:solidFill>
              </a:defRPr>
            </a:pPr>
            <a:r>
              <a:t>Alnylam WO2024256707A1</a:t>
            </a:r>
          </a:p>
          <a:p>
            <a:pPr>
              <a:spcAft>
                <a:spcPts val="600"/>
              </a:spcAft>
              <a:defRPr sz="850">
                <a:solidFill>
                  <a:srgbClr val="CBD5E1"/>
                </a:solidFill>
              </a:defRPr>
            </a:pPr>
            <a:r>
              <a:t>TARGET MRNA: Janus Kinase 1 (JAK1) — immunology &amp; oncology</a:t>
            </a:r>
          </a:p>
          <a:p>
            <a:pPr>
              <a:spcAft>
                <a:spcPts val="800"/>
              </a:spcAft>
            </a:pPr>
            <a:r>
              <a:rPr sz="1400" b="1">
                <a:solidFill>
                  <a:srgbClr val="F8FAFC"/>
                </a:solidFill>
              </a:rPr>
              <a:t>N = 191    </a:t>
            </a:r>
            <a:r>
              <a:rPr sz="1400" b="1">
                <a:solidFill>
                  <a:srgbClr val="14B8A6"/>
                </a:solidFill>
              </a:rPr>
              <a:t>r = 0.6945</a:t>
            </a:r>
          </a:p>
          <a:p>
            <a:pPr>
              <a:spcAft>
                <a:spcPts val="200"/>
              </a:spcAft>
              <a:defRPr sz="800">
                <a:solidFill>
                  <a:srgbClr val="CBD5E1"/>
                </a:solidFill>
              </a:defRPr>
            </a:pPr>
            <a:r>
              <a:t>• Spearman ρ = 0.6880</a:t>
            </a:r>
          </a:p>
          <a:p>
            <a:pPr>
              <a:spcAft>
                <a:spcPts val="200"/>
              </a:spcAft>
              <a:defRPr sz="800">
                <a:solidFill>
                  <a:srgbClr val="CBD5E1"/>
                </a:solidFill>
              </a:defRPr>
            </a:pPr>
            <a:r>
              <a:t>• ROC-AUC = 0.8250</a:t>
            </a:r>
          </a:p>
          <a:p>
            <a:pPr>
              <a:spcAft>
                <a:spcPts val="200"/>
              </a:spcAft>
              <a:defRPr sz="800">
                <a:solidFill>
                  <a:srgbClr val="CBD5E1"/>
                </a:solidFill>
              </a:defRPr>
            </a:pPr>
            <a:r>
              <a:t>• Independent gene · distinct GC distribution</a:t>
            </a:r>
          </a:p>
          <a:p>
            <a:pPr>
              <a:spcBef>
                <a:spcPts val="800"/>
              </a:spcBef>
              <a:defRPr sz="800">
                <a:solidFill>
                  <a:srgbClr val="94A3B8"/>
                </a:solidFill>
              </a:defRPr>
            </a:pPr>
            <a:r>
              <a:t>SIGNIFICANCE</a:t>
            </a:r>
            <a:br/>
            <a:r>
              <a:t>Validates transfer to diverse GC compositions and target structures without retraining.</a:t>
            </a:r>
          </a:p>
        </p:txBody>
      </p:sp>
      <p:sp>
        <p:nvSpPr>
          <p:cNvPr id="8" name="Rounded Rectangle 7"/>
          <p:cNvSpPr/>
          <p:nvPr/>
        </p:nvSpPr>
        <p:spPr>
          <a:xfrm>
            <a:off x="7955280" y="1645920"/>
            <a:ext cx="34747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00" b="1">
                <a:solidFill>
                  <a:srgbClr val="A855F7"/>
                </a:solidFill>
              </a:defRPr>
            </a:pPr>
            <a:r>
              <a:t>PANEL 03</a:t>
            </a:r>
          </a:p>
          <a:p>
            <a:pPr>
              <a:defRPr sz="1300" b="1">
                <a:solidFill>
                  <a:srgbClr val="F8FAFC"/>
                </a:solidFill>
              </a:defRPr>
            </a:pPr>
            <a:r>
              <a:t>Foster GalNAc panel</a:t>
            </a:r>
          </a:p>
          <a:p>
            <a:pPr>
              <a:spcAft>
                <a:spcPts val="600"/>
              </a:spcAft>
              <a:defRPr sz="800" i="1">
                <a:solidFill>
                  <a:srgbClr val="94A3B8"/>
                </a:solidFill>
              </a:defRPr>
            </a:pPr>
            <a:r>
              <a:t>Mol Therapy 2018</a:t>
            </a:r>
          </a:p>
          <a:p>
            <a:pPr>
              <a:spcAft>
                <a:spcPts val="600"/>
              </a:spcAft>
              <a:defRPr sz="850">
                <a:solidFill>
                  <a:srgbClr val="CBD5E1"/>
                </a:solidFill>
              </a:defRPr>
            </a:pPr>
            <a:r>
              <a:t>TARGET ARCHETYPE: Liver-targeted ESC / ESC+ GalNAc</a:t>
            </a:r>
          </a:p>
          <a:p>
            <a:pPr>
              <a:spcAft>
                <a:spcPts val="800"/>
              </a:spcAft>
            </a:pPr>
            <a:r>
              <a:rPr sz="1400" b="1">
                <a:solidFill>
                  <a:srgbClr val="F8FAFC"/>
                </a:solidFill>
              </a:rPr>
              <a:t>N = 15    </a:t>
            </a:r>
            <a:r>
              <a:rPr sz="1400" b="1">
                <a:solidFill>
                  <a:srgbClr val="A855F7"/>
                </a:solidFill>
              </a:rPr>
              <a:t>r = 0.9120</a:t>
            </a:r>
          </a:p>
          <a:p>
            <a:pPr>
              <a:spcAft>
                <a:spcPts val="200"/>
              </a:spcAft>
              <a:defRPr sz="800">
                <a:solidFill>
                  <a:srgbClr val="CBD5E1"/>
                </a:solidFill>
              </a:defRPr>
            </a:pPr>
            <a:r>
              <a:t>• Spearman ρ = 0.8940</a:t>
            </a:r>
          </a:p>
          <a:p>
            <a:pPr>
              <a:spcAft>
                <a:spcPts val="200"/>
              </a:spcAft>
              <a:defRPr sz="800">
                <a:solidFill>
                  <a:srgbClr val="CBD5E1"/>
                </a:solidFill>
              </a:defRPr>
            </a:pPr>
            <a:r>
              <a:t>• R² = 0.7920</a:t>
            </a:r>
          </a:p>
          <a:p>
            <a:pPr>
              <a:spcAft>
                <a:spcPts val="200"/>
              </a:spcAft>
              <a:defRPr sz="800">
                <a:solidFill>
                  <a:srgbClr val="CBD5E1"/>
                </a:solidFill>
              </a:defRPr>
            </a:pPr>
            <a:r>
              <a:t>• MAE = 7.45 pp · RMSE = 9.80 pp</a:t>
            </a:r>
          </a:p>
          <a:p>
            <a:pPr>
              <a:spcBef>
                <a:spcPts val="800"/>
              </a:spcBef>
              <a:defRPr sz="800">
                <a:solidFill>
                  <a:srgbClr val="94A3B8"/>
                </a:solidFill>
              </a:defRPr>
            </a:pPr>
            <a:r>
              <a:t>SIGNIFICANCE</a:t>
            </a:r>
            <a:br/>
            <a:r>
              <a:t>Near-perfect rank preservation on liver-targeted clinical candidates, validating the multi-slot model for advanced delivery vehicles.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F59E0B"/>
                </a:solidFill>
              </a:defRPr>
            </a:pPr>
            <a:r>
              <a:t>// CLINICAL TRANSLATION</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FDA-approved drugs, predicted </a:t>
            </a:r>
            <a:r>
              <a:rPr sz="2400" b="1">
                <a:solidFill>
                  <a:srgbClr val="F59E0B"/>
                </a:solidFill>
              </a:rPr>
              <a:t>sub-nanomolar</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Four FDA-approved siRNA drugs fed straight into HelixZero with no fine-tuning. Predicted potencies match clinical trial ranges.</a:t>
            </a:r>
          </a:p>
        </p:txBody>
      </p:sp>
      <p:graphicFrame>
        <p:nvGraphicFramePr>
          <p:cNvPr id="6" name="Table 5"/>
          <p:cNvGraphicFramePr>
            <a:graphicFrameLocks noGrp="1"/>
          </p:cNvGraphicFramePr>
          <p:nvPr/>
        </p:nvGraphicFramePr>
        <p:xfrm>
          <a:off x="731520" y="1645920"/>
          <a:ext cx="10728655" cy="2377440"/>
        </p:xfrm>
        <a:graphic>
          <a:graphicData uri="http://schemas.openxmlformats.org/drawingml/2006/table">
            <a:tbl>
              <a:tblPr firstRow="1" bandRow="1">
                <a:tableStyleId>{5C22544A-7EE6-4342-B048-85BDC9FD1C3A}</a:tableStyleId>
              </a:tblPr>
              <a:tblGrid>
                <a:gridCol w="1645920"/>
                <a:gridCol w="1097280"/>
                <a:gridCol w="1097280"/>
                <a:gridCol w="2560320"/>
                <a:gridCol w="1188720"/>
                <a:gridCol w="1645920"/>
                <a:gridCol w="1493215"/>
              </a:tblGrid>
              <a:tr h="475488">
                <a:tc>
                  <a:txBody>
                    <a:bodyPr/>
                    <a:lstStyle/>
                    <a:p>
                      <a:pPr>
                        <a:defRPr sz="800" b="1">
                          <a:solidFill>
                            <a:srgbClr val="94A3B8"/>
                          </a:solidFill>
                        </a:defRPr>
                      </a:pPr>
                      <a:r>
                        <a:t>DRUG</a:t>
                      </a:r>
                    </a:p>
                  </a:txBody>
                  <a:tcPr>
                    <a:solidFill>
                      <a:srgbClr val="0D1626"/>
                    </a:solidFill>
                  </a:tcPr>
                </a:tc>
                <a:tc>
                  <a:txBody>
                    <a:bodyPr/>
                    <a:lstStyle/>
                    <a:p>
                      <a:pPr>
                        <a:defRPr sz="800" b="1">
                          <a:solidFill>
                            <a:srgbClr val="94A3B8"/>
                          </a:solidFill>
                        </a:defRPr>
                      </a:pPr>
                      <a:r>
                        <a:t>TARGET</a:t>
                      </a:r>
                    </a:p>
                  </a:txBody>
                  <a:tcPr>
                    <a:solidFill>
                      <a:srgbClr val="0D1626"/>
                    </a:solidFill>
                  </a:tcPr>
                </a:tc>
                <a:tc>
                  <a:txBody>
                    <a:bodyPr/>
                    <a:lstStyle/>
                    <a:p>
                      <a:pPr>
                        <a:defRPr sz="800" b="1">
                          <a:solidFill>
                            <a:srgbClr val="94A3B8"/>
                          </a:solidFill>
                        </a:defRPr>
                      </a:pPr>
                      <a:r>
                        <a:t>FDA YEAR</a:t>
                      </a:r>
                    </a:p>
                  </a:txBody>
                  <a:tcPr>
                    <a:solidFill>
                      <a:srgbClr val="0D1626"/>
                    </a:solidFill>
                  </a:tcPr>
                </a:tc>
                <a:tc>
                  <a:txBody>
                    <a:bodyPr/>
                    <a:lstStyle/>
                    <a:p>
                      <a:pPr>
                        <a:defRPr sz="800" b="1">
                          <a:solidFill>
                            <a:srgbClr val="94A3B8"/>
                          </a:solidFill>
                        </a:defRPr>
                      </a:pPr>
                      <a:r>
                        <a:t>TRIAL ENDPOINT</a:t>
                      </a:r>
                    </a:p>
                  </a:txBody>
                  <a:tcPr>
                    <a:solidFill>
                      <a:srgbClr val="0D1626"/>
                    </a:solidFill>
                  </a:tcPr>
                </a:tc>
                <a:tc>
                  <a:txBody>
                    <a:bodyPr/>
                    <a:lstStyle/>
                    <a:p>
                      <a:pPr>
                        <a:defRPr sz="800" b="1">
                          <a:solidFill>
                            <a:srgbClr val="94A3B8"/>
                          </a:solidFill>
                        </a:defRPr>
                      </a:pPr>
                      <a:r>
                        <a:t>pIC50</a:t>
                      </a:r>
                    </a:p>
                  </a:txBody>
                  <a:tcPr>
                    <a:solidFill>
                      <a:srgbClr val="0D1626"/>
                    </a:solidFill>
                  </a:tcPr>
                </a:tc>
                <a:tc>
                  <a:txBody>
                    <a:bodyPr/>
                    <a:lstStyle/>
                    <a:p>
                      <a:pPr>
                        <a:defRPr sz="800" b="1">
                          <a:solidFill>
                            <a:srgbClr val="94A3B8"/>
                          </a:solidFill>
                        </a:defRPr>
                      </a:pPr>
                      <a:r>
                        <a:t>PREDICTED IC50</a:t>
                      </a:r>
                    </a:p>
                  </a:txBody>
                  <a:tcPr>
                    <a:solidFill>
                      <a:srgbClr val="0D1626"/>
                    </a:solidFill>
                  </a:tcPr>
                </a:tc>
                <a:tc>
                  <a:txBody>
                    <a:bodyPr/>
                    <a:lstStyle/>
                    <a:p>
                      <a:pPr>
                        <a:defRPr sz="800" b="1">
                          <a:solidFill>
                            <a:srgbClr val="94A3B8"/>
                          </a:solidFill>
                        </a:defRPr>
                      </a:pPr>
                      <a:r>
                        <a:t>KD @ 10 NM</a:t>
                      </a:r>
                    </a:p>
                  </a:txBody>
                  <a:tcPr>
                    <a:solidFill>
                      <a:srgbClr val="0D1626"/>
                    </a:solidFill>
                  </a:tcPr>
                </a:tc>
              </a:tr>
              <a:tr h="475488">
                <a:tc>
                  <a:txBody>
                    <a:bodyPr/>
                    <a:lstStyle/>
                    <a:p>
                      <a:pPr>
                        <a:defRPr sz="850">
                          <a:solidFill>
                            <a:srgbClr val="F8FAFC"/>
                          </a:solidFill>
                        </a:defRPr>
                      </a:pPr>
                      <a:r>
                        <a:t>Givosiran</a:t>
                      </a:r>
                    </a:p>
                  </a:txBody>
                  <a:tcPr>
                    <a:solidFill>
                      <a:srgbClr val="0D1626"/>
                    </a:solidFill>
                  </a:tcPr>
                </a:tc>
                <a:tc>
                  <a:txBody>
                    <a:bodyPr/>
                    <a:lstStyle/>
                    <a:p>
                      <a:pPr>
                        <a:defRPr sz="850">
                          <a:solidFill>
                            <a:srgbClr val="F8FAFC"/>
                          </a:solidFill>
                        </a:defRPr>
                      </a:pPr>
                      <a:r>
                        <a:t>ALAS1</a:t>
                      </a:r>
                    </a:p>
                  </a:txBody>
                  <a:tcPr>
                    <a:solidFill>
                      <a:srgbClr val="0D1626"/>
                    </a:solidFill>
                  </a:tcPr>
                </a:tc>
                <a:tc>
                  <a:txBody>
                    <a:bodyPr/>
                    <a:lstStyle/>
                    <a:p>
                      <a:pPr>
                        <a:defRPr sz="850">
                          <a:solidFill>
                            <a:srgbClr val="CBD5E1"/>
                          </a:solidFill>
                        </a:defRPr>
                      </a:pPr>
                      <a:r>
                        <a:t>2019</a:t>
                      </a:r>
                    </a:p>
                  </a:txBody>
                  <a:tcPr>
                    <a:solidFill>
                      <a:srgbClr val="0D1626"/>
                    </a:solidFill>
                  </a:tcPr>
                </a:tc>
                <a:tc>
                  <a:txBody>
                    <a:bodyPr/>
                    <a:lstStyle/>
                    <a:p>
                      <a:pPr>
                        <a:defRPr sz="850">
                          <a:solidFill>
                            <a:srgbClr val="CBD5E1"/>
                          </a:solidFill>
                        </a:defRPr>
                      </a:pPr>
                      <a:r>
                        <a:t>88–93% ALAS1 urinary reduction</a:t>
                      </a:r>
                    </a:p>
                  </a:txBody>
                  <a:tcPr>
                    <a:solidFill>
                      <a:srgbClr val="0D1626"/>
                    </a:solidFill>
                  </a:tcPr>
                </a:tc>
                <a:tc>
                  <a:txBody>
                    <a:bodyPr/>
                    <a:lstStyle/>
                    <a:p>
                      <a:pPr>
                        <a:defRPr sz="850">
                          <a:solidFill>
                            <a:srgbClr val="CBD5E1"/>
                          </a:solidFill>
                        </a:defRPr>
                      </a:pPr>
                      <a:r>
                        <a:t>9.0811</a:t>
                      </a:r>
                    </a:p>
                  </a:txBody>
                  <a:tcPr>
                    <a:solidFill>
                      <a:srgbClr val="0D1626"/>
                    </a:solidFill>
                  </a:tcPr>
                </a:tc>
                <a:tc>
                  <a:txBody>
                    <a:bodyPr/>
                    <a:lstStyle/>
                    <a:p>
                      <a:pPr>
                        <a:defRPr sz="850" b="1">
                          <a:solidFill>
                            <a:srgbClr val="F59E0B"/>
                          </a:solidFill>
                        </a:defRPr>
                      </a:pPr>
                      <a:r>
                        <a:t>0.83 nM</a:t>
                      </a:r>
                    </a:p>
                  </a:txBody>
                  <a:tcPr>
                    <a:solidFill>
                      <a:srgbClr val="0D1626"/>
                    </a:solidFill>
                  </a:tcPr>
                </a:tc>
                <a:tc>
                  <a:txBody>
                    <a:bodyPr/>
                    <a:lstStyle/>
                    <a:p>
                      <a:pPr>
                        <a:defRPr sz="850">
                          <a:solidFill>
                            <a:srgbClr val="CBD5E1"/>
                          </a:solidFill>
                        </a:defRPr>
                      </a:pPr>
                      <a:r>
                        <a:t>92.3%</a:t>
                      </a:r>
                    </a:p>
                  </a:txBody>
                  <a:tcPr>
                    <a:solidFill>
                      <a:srgbClr val="0D1626"/>
                    </a:solidFill>
                  </a:tcPr>
                </a:tc>
              </a:tr>
              <a:tr h="475488">
                <a:tc>
                  <a:txBody>
                    <a:bodyPr/>
                    <a:lstStyle/>
                    <a:p>
                      <a:pPr>
                        <a:defRPr sz="850">
                          <a:solidFill>
                            <a:srgbClr val="F8FAFC"/>
                          </a:solidFill>
                        </a:defRPr>
                      </a:pPr>
                      <a:r>
                        <a:t>Patisiran</a:t>
                      </a:r>
                    </a:p>
                  </a:txBody>
                  <a:tcPr>
                    <a:solidFill>
                      <a:srgbClr val="0D1626"/>
                    </a:solidFill>
                  </a:tcPr>
                </a:tc>
                <a:tc>
                  <a:txBody>
                    <a:bodyPr/>
                    <a:lstStyle/>
                    <a:p>
                      <a:pPr>
                        <a:defRPr sz="850">
                          <a:solidFill>
                            <a:srgbClr val="F8FAFC"/>
                          </a:solidFill>
                        </a:defRPr>
                      </a:pPr>
                      <a:r>
                        <a:t>TTR</a:t>
                      </a:r>
                    </a:p>
                  </a:txBody>
                  <a:tcPr>
                    <a:solidFill>
                      <a:srgbClr val="0D1626"/>
                    </a:solidFill>
                  </a:tcPr>
                </a:tc>
                <a:tc>
                  <a:txBody>
                    <a:bodyPr/>
                    <a:lstStyle/>
                    <a:p>
                      <a:pPr>
                        <a:defRPr sz="850">
                          <a:solidFill>
                            <a:srgbClr val="CBD5E1"/>
                          </a:solidFill>
                        </a:defRPr>
                      </a:pPr>
                      <a:r>
                        <a:t>2018</a:t>
                      </a:r>
                    </a:p>
                  </a:txBody>
                  <a:tcPr>
                    <a:solidFill>
                      <a:srgbClr val="0D1626"/>
                    </a:solidFill>
                  </a:tcPr>
                </a:tc>
                <a:tc>
                  <a:txBody>
                    <a:bodyPr/>
                    <a:lstStyle/>
                    <a:p>
                      <a:pPr>
                        <a:defRPr sz="850">
                          <a:solidFill>
                            <a:srgbClr val="CBD5E1"/>
                          </a:solidFill>
                        </a:defRPr>
                      </a:pPr>
                      <a:r>
                        <a:t>84–90% serum TTR reduction</a:t>
                      </a:r>
                    </a:p>
                  </a:txBody>
                  <a:tcPr>
                    <a:solidFill>
                      <a:srgbClr val="0D1626"/>
                    </a:solidFill>
                  </a:tcPr>
                </a:tc>
                <a:tc>
                  <a:txBody>
                    <a:bodyPr/>
                    <a:lstStyle/>
                    <a:p>
                      <a:pPr>
                        <a:defRPr sz="850">
                          <a:solidFill>
                            <a:srgbClr val="CBD5E1"/>
                          </a:solidFill>
                        </a:defRPr>
                      </a:pPr>
                      <a:r>
                        <a:t>8.8709</a:t>
                      </a:r>
                    </a:p>
                  </a:txBody>
                  <a:tcPr>
                    <a:solidFill>
                      <a:srgbClr val="0D1626"/>
                    </a:solidFill>
                  </a:tcPr>
                </a:tc>
                <a:tc>
                  <a:txBody>
                    <a:bodyPr/>
                    <a:lstStyle/>
                    <a:p>
                      <a:pPr>
                        <a:defRPr sz="850" b="1">
                          <a:solidFill>
                            <a:srgbClr val="F59E0B"/>
                          </a:solidFill>
                        </a:defRPr>
                      </a:pPr>
                      <a:r>
                        <a:t>1.35 nM</a:t>
                      </a:r>
                    </a:p>
                  </a:txBody>
                  <a:tcPr>
                    <a:solidFill>
                      <a:srgbClr val="0D1626"/>
                    </a:solidFill>
                  </a:tcPr>
                </a:tc>
                <a:tc>
                  <a:txBody>
                    <a:bodyPr/>
                    <a:lstStyle/>
                    <a:p>
                      <a:pPr>
                        <a:defRPr sz="850">
                          <a:solidFill>
                            <a:srgbClr val="CBD5E1"/>
                          </a:solidFill>
                        </a:defRPr>
                      </a:pPr>
                      <a:r>
                        <a:t>88.1%</a:t>
                      </a:r>
                    </a:p>
                  </a:txBody>
                  <a:tcPr>
                    <a:solidFill>
                      <a:srgbClr val="0D1626"/>
                    </a:solidFill>
                  </a:tcPr>
                </a:tc>
              </a:tr>
              <a:tr h="475488">
                <a:tc>
                  <a:txBody>
                    <a:bodyPr/>
                    <a:lstStyle/>
                    <a:p>
                      <a:pPr>
                        <a:defRPr sz="850">
                          <a:solidFill>
                            <a:srgbClr val="F8FAFC"/>
                          </a:solidFill>
                        </a:defRPr>
                      </a:pPr>
                      <a:r>
                        <a:t>Inclisiran</a:t>
                      </a:r>
                    </a:p>
                  </a:txBody>
                  <a:tcPr>
                    <a:solidFill>
                      <a:srgbClr val="0D1626"/>
                    </a:solidFill>
                  </a:tcPr>
                </a:tc>
                <a:tc>
                  <a:txBody>
                    <a:bodyPr/>
                    <a:lstStyle/>
                    <a:p>
                      <a:pPr>
                        <a:defRPr sz="850">
                          <a:solidFill>
                            <a:srgbClr val="F8FAFC"/>
                          </a:solidFill>
                        </a:defRPr>
                      </a:pPr>
                      <a:r>
                        <a:t>PCSK9</a:t>
                      </a:r>
                    </a:p>
                  </a:txBody>
                  <a:tcPr>
                    <a:solidFill>
                      <a:srgbClr val="0D1626"/>
                    </a:solidFill>
                  </a:tcPr>
                </a:tc>
                <a:tc>
                  <a:txBody>
                    <a:bodyPr/>
                    <a:lstStyle/>
                    <a:p>
                      <a:pPr>
                        <a:defRPr sz="850">
                          <a:solidFill>
                            <a:srgbClr val="CBD5E1"/>
                          </a:solidFill>
                        </a:defRPr>
                      </a:pPr>
                      <a:r>
                        <a:t>2021</a:t>
                      </a:r>
                    </a:p>
                  </a:txBody>
                  <a:tcPr>
                    <a:solidFill>
                      <a:srgbClr val="0D1626"/>
                    </a:solidFill>
                  </a:tcPr>
                </a:tc>
                <a:tc>
                  <a:txBody>
                    <a:bodyPr/>
                    <a:lstStyle/>
                    <a:p>
                      <a:pPr>
                        <a:defRPr sz="850">
                          <a:solidFill>
                            <a:srgbClr val="CBD5E1"/>
                          </a:solidFill>
                        </a:defRPr>
                      </a:pPr>
                      <a:r>
                        <a:t>80–86% plasma PCSK9 reduction</a:t>
                      </a:r>
                    </a:p>
                  </a:txBody>
                  <a:tcPr>
                    <a:solidFill>
                      <a:srgbClr val="0D1626"/>
                    </a:solidFill>
                  </a:tcPr>
                </a:tc>
                <a:tc>
                  <a:txBody>
                    <a:bodyPr/>
                    <a:lstStyle/>
                    <a:p>
                      <a:pPr>
                        <a:defRPr sz="850">
                          <a:solidFill>
                            <a:srgbClr val="CBD5E1"/>
                          </a:solidFill>
                        </a:defRPr>
                      </a:pPr>
                      <a:r>
                        <a:t>8.8747</a:t>
                      </a:r>
                    </a:p>
                  </a:txBody>
                  <a:tcPr>
                    <a:solidFill>
                      <a:srgbClr val="0D1626"/>
                    </a:solidFill>
                  </a:tcPr>
                </a:tc>
                <a:tc>
                  <a:txBody>
                    <a:bodyPr/>
                    <a:lstStyle/>
                    <a:p>
                      <a:pPr>
                        <a:defRPr sz="850" b="1">
                          <a:solidFill>
                            <a:srgbClr val="F59E0B"/>
                          </a:solidFill>
                        </a:defRPr>
                      </a:pPr>
                      <a:r>
                        <a:t>1.33 nM</a:t>
                      </a:r>
                    </a:p>
                  </a:txBody>
                  <a:tcPr>
                    <a:solidFill>
                      <a:srgbClr val="0D1626"/>
                    </a:solidFill>
                  </a:tcPr>
                </a:tc>
                <a:tc>
                  <a:txBody>
                    <a:bodyPr/>
                    <a:lstStyle/>
                    <a:p>
                      <a:pPr>
                        <a:defRPr sz="850">
                          <a:solidFill>
                            <a:srgbClr val="CBD5E1"/>
                          </a:solidFill>
                        </a:defRPr>
                      </a:pPr>
                      <a:r>
                        <a:t>88.2%</a:t>
                      </a:r>
                    </a:p>
                  </a:txBody>
                  <a:tcPr>
                    <a:solidFill>
                      <a:srgbClr val="0D1626"/>
                    </a:solidFill>
                  </a:tcPr>
                </a:tc>
              </a:tr>
              <a:tr h="475488">
                <a:tc>
                  <a:txBody>
                    <a:bodyPr/>
                    <a:lstStyle/>
                    <a:p>
                      <a:pPr>
                        <a:defRPr sz="850">
                          <a:solidFill>
                            <a:srgbClr val="F8FAFC"/>
                          </a:solidFill>
                        </a:defRPr>
                      </a:pPr>
                      <a:r>
                        <a:t>Lumasiran</a:t>
                      </a:r>
                    </a:p>
                  </a:txBody>
                  <a:tcPr>
                    <a:solidFill>
                      <a:srgbClr val="0D1626"/>
                    </a:solidFill>
                  </a:tcPr>
                </a:tc>
                <a:tc>
                  <a:txBody>
                    <a:bodyPr/>
                    <a:lstStyle/>
                    <a:p>
                      <a:pPr>
                        <a:defRPr sz="850">
                          <a:solidFill>
                            <a:srgbClr val="F8FAFC"/>
                          </a:solidFill>
                        </a:defRPr>
                      </a:pPr>
                      <a:r>
                        <a:t>HAO1</a:t>
                      </a:r>
                    </a:p>
                  </a:txBody>
                  <a:tcPr>
                    <a:solidFill>
                      <a:srgbClr val="0D1626"/>
                    </a:solidFill>
                  </a:tcPr>
                </a:tc>
                <a:tc>
                  <a:txBody>
                    <a:bodyPr/>
                    <a:lstStyle/>
                    <a:p>
                      <a:pPr>
                        <a:defRPr sz="850">
                          <a:solidFill>
                            <a:srgbClr val="CBD5E1"/>
                          </a:solidFill>
                        </a:defRPr>
                      </a:pPr>
                      <a:r>
                        <a:t>2020</a:t>
                      </a:r>
                    </a:p>
                  </a:txBody>
                  <a:tcPr>
                    <a:solidFill>
                      <a:srgbClr val="0D1626"/>
                    </a:solidFill>
                  </a:tcPr>
                </a:tc>
                <a:tc>
                  <a:txBody>
                    <a:bodyPr/>
                    <a:lstStyle/>
                    <a:p>
                      <a:pPr>
                        <a:defRPr sz="850">
                          <a:solidFill>
                            <a:srgbClr val="CBD5E1"/>
                          </a:solidFill>
                        </a:defRPr>
                      </a:pPr>
                      <a:r>
                        <a:t>80–85% urinary oxalate reduction</a:t>
                      </a:r>
                    </a:p>
                  </a:txBody>
                  <a:tcPr>
                    <a:solidFill>
                      <a:srgbClr val="0D1626"/>
                    </a:solidFill>
                  </a:tcPr>
                </a:tc>
                <a:tc>
                  <a:txBody>
                    <a:bodyPr/>
                    <a:lstStyle/>
                    <a:p>
                      <a:pPr>
                        <a:defRPr sz="850">
                          <a:solidFill>
                            <a:srgbClr val="CBD5E1"/>
                          </a:solidFill>
                        </a:defRPr>
                      </a:pPr>
                      <a:r>
                        <a:t>8.6577</a:t>
                      </a:r>
                    </a:p>
                  </a:txBody>
                  <a:tcPr>
                    <a:solidFill>
                      <a:srgbClr val="0D1626"/>
                    </a:solidFill>
                  </a:tcPr>
                </a:tc>
                <a:tc>
                  <a:txBody>
                    <a:bodyPr/>
                    <a:lstStyle/>
                    <a:p>
                      <a:pPr>
                        <a:defRPr sz="850" b="1">
                          <a:solidFill>
                            <a:srgbClr val="F59E0B"/>
                          </a:solidFill>
                        </a:defRPr>
                      </a:pPr>
                      <a:r>
                        <a:t>2.20 nM</a:t>
                      </a:r>
                    </a:p>
                  </a:txBody>
                  <a:tcPr>
                    <a:solidFill>
                      <a:srgbClr val="0D1626"/>
                    </a:solidFill>
                  </a:tcPr>
                </a:tc>
                <a:tc>
                  <a:txBody>
                    <a:bodyPr/>
                    <a:lstStyle/>
                    <a:p>
                      <a:pPr>
                        <a:defRPr sz="850">
                          <a:solidFill>
                            <a:srgbClr val="CBD5E1"/>
                          </a:solidFill>
                        </a:defRPr>
                      </a:pPr>
                      <a:r>
                        <a:t>82.0%</a:t>
                      </a:r>
                    </a:p>
                  </a:txBody>
                  <a:tcPr>
                    <a:solidFill>
                      <a:srgbClr val="0D1626"/>
                    </a:solidFill>
                  </a:tcPr>
                </a:tc>
              </a:tr>
            </a:tbl>
          </a:graphicData>
        </a:graphic>
      </p:graphicFrame>
      <p:sp>
        <p:nvSpPr>
          <p:cNvPr id="7" name="Rounded Rectangle 6"/>
          <p:cNvSpPr/>
          <p:nvPr/>
        </p:nvSpPr>
        <p:spPr>
          <a:xfrm>
            <a:off x="731520" y="4297680"/>
            <a:ext cx="3474720" cy="16459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00" b="1">
                <a:solidFill>
                  <a:srgbClr val="F59E0B"/>
                </a:solidFill>
              </a:defRPr>
            </a:pPr>
            <a:r>
              <a:t>PREDICTED POTENCY WINDOW</a:t>
            </a:r>
          </a:p>
          <a:p>
            <a:pPr>
              <a:defRPr sz="2200" b="1">
                <a:solidFill>
                  <a:srgbClr val="F59E0B"/>
                </a:solidFill>
              </a:defRPr>
            </a:pPr>
            <a:r>
              <a:t>0.83 – 2.24 nM</a:t>
            </a:r>
          </a:p>
          <a:p>
            <a:pPr>
              <a:defRPr sz="850">
                <a:solidFill>
                  <a:srgbClr val="CBD5E1"/>
                </a:solidFill>
              </a:defRPr>
            </a:pPr>
            <a:r>
              <a:t>IC50 via 10^(9 - pIC50). Tracks clinical trial-efficacy ranges.</a:t>
            </a:r>
          </a:p>
        </p:txBody>
      </p:sp>
      <p:sp>
        <p:nvSpPr>
          <p:cNvPr id="8" name="Rounded Rectangle 7"/>
          <p:cNvSpPr/>
          <p:nvPr/>
        </p:nvSpPr>
        <p:spPr>
          <a:xfrm>
            <a:off x="4389120" y="4297680"/>
            <a:ext cx="3474720" cy="16459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00" b="1">
                <a:solidFill>
                  <a:srgbClr val="0EA5E9"/>
                </a:solidFill>
              </a:defRPr>
            </a:pPr>
            <a:r>
              <a:t>EXACT UNTIED RANK CORRELATION</a:t>
            </a:r>
          </a:p>
          <a:p>
            <a:pPr>
              <a:defRPr sz="2200" b="1">
                <a:solidFill>
                  <a:srgbClr val="0EA5E9"/>
                </a:solidFill>
              </a:defRPr>
            </a:pPr>
            <a:r>
              <a:t>ρ = 0.8000</a:t>
            </a:r>
          </a:p>
          <a:p>
            <a:pPr>
              <a:defRPr sz="850">
                <a:solidFill>
                  <a:srgbClr val="CBD5E1"/>
                </a:solidFill>
              </a:defRPr>
            </a:pPr>
            <a:r>
              <a:t>Σ d_i² = 2 — single transposition between Patisiran and Inclisiran.</a:t>
            </a:r>
          </a:p>
        </p:txBody>
      </p:sp>
      <p:sp>
        <p:nvSpPr>
          <p:cNvPr id="9" name="Rounded Rectangle 8"/>
          <p:cNvSpPr/>
          <p:nvPr/>
        </p:nvSpPr>
        <p:spPr>
          <a:xfrm>
            <a:off x="8046720" y="4297680"/>
            <a:ext cx="3413455" cy="164592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a:lstStyle/>
          <a:p>
            <a:pPr algn="ctr">
              <a:defRPr sz="800" b="1">
                <a:solidFill>
                  <a:srgbClr val="14B8A6"/>
                </a:solidFill>
              </a:defRPr>
            </a:pPr>
            <a:r>
              <a:t>PENALTY EXEMPTIONS</a:t>
            </a:r>
          </a:p>
          <a:p>
            <a:pPr>
              <a:defRPr sz="2200" b="1">
                <a:solidFill>
                  <a:srgbClr val="14B8A6"/>
                </a:solidFill>
              </a:defRPr>
            </a:pPr>
            <a:r>
              <a:t>0.0 pts</a:t>
            </a:r>
          </a:p>
          <a:p>
            <a:pPr>
              <a:defRPr sz="850">
                <a:solidFill>
                  <a:srgbClr val="CBD5E1"/>
                </a:solidFill>
              </a:defRPr>
            </a:pPr>
            <a:r>
              <a:t>All four drugs clear biophysical rules cleanly. Anchor-exemption integrity verified.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F59E0B"/>
                </a:solidFill>
              </a:defRPr>
            </a:pPr>
            <a:r>
              <a:t>// STRUCTURAL BIOLOGY</a:t>
            </a:r>
          </a:p>
        </p:txBody>
      </p:sp>
      <p:sp>
        <p:nvSpPr>
          <p:cNvPr id="4" name="TextBox 3"/>
          <p:cNvSpPr txBox="1"/>
          <p:nvPr/>
        </p:nvSpPr>
        <p:spPr>
          <a:xfrm>
            <a:off x="731520" y="640080"/>
            <a:ext cx="10789920" cy="548640"/>
          </a:xfrm>
          <a:prstGeom prst="rect">
            <a:avLst/>
          </a:prstGeom>
          <a:noFill/>
        </p:spPr>
        <p:txBody>
          <a:bodyPr wrap="none">
            <a:spAutoFit/>
          </a:bodyPr>
          <a:lstStyle/>
          <a:p>
            <a:r>
              <a:rPr sz="2400" b="1">
                <a:solidFill>
                  <a:srgbClr val="F8FAFC"/>
                </a:solidFill>
              </a:rPr>
              <a:t>Argonaute-2 pocket geometry as a </a:t>
            </a:r>
            <a:r>
              <a:rPr sz="2400" b="1">
                <a:solidFill>
                  <a:srgbClr val="F59E0B"/>
                </a:solidFill>
              </a:rPr>
              <a:t>geometric veto</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Predicted candidates are docked into the catalytic pocket of human Ago2 (PDB 4W5N, 2.90 Å). Steric clashes flag structural infeasibility before wet-lab synthesis.</a:t>
            </a:r>
          </a:p>
        </p:txBody>
      </p:sp>
      <p:sp>
        <p:nvSpPr>
          <p:cNvPr id="6" name="Rounded Rectangle 5"/>
          <p:cNvSpPr/>
          <p:nvPr/>
        </p:nvSpPr>
        <p:spPr>
          <a:xfrm>
            <a:off x="731520" y="1645920"/>
            <a:ext cx="5303520"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82880" wrap="square"/>
          <a:lstStyle/>
          <a:p>
            <a:pPr algn="ctr">
              <a:defRPr sz="850" b="1">
                <a:solidFill>
                  <a:srgbClr val="94A3B8"/>
                </a:solidFill>
              </a:defRPr>
            </a:pPr>
            <a:r>
              <a:t>PDB 4W5N · HUMAN AGO2 CATALYTIC POCKET</a:t>
            </a:r>
          </a:p>
          <a:p>
            <a:pPr>
              <a:spcAft>
                <a:spcPts val="1400"/>
              </a:spcAft>
              <a:defRPr sz="1300" b="1">
                <a:solidFill>
                  <a:srgbClr val="F8FAFC"/>
                </a:solidFill>
              </a:defRPr>
            </a:pPr>
            <a:r>
              <a:t>Schematic: Patisiran guide inside the pocket</a:t>
            </a:r>
          </a:p>
          <a:p>
            <a:pPr>
              <a:spcAft>
                <a:spcPts val="800"/>
              </a:spcAft>
              <a:defRPr sz="950">
                <a:solidFill>
                  <a:srgbClr val="0EA5E9"/>
                </a:solidFill>
              </a:defRPr>
            </a:pPr>
            <a:r>
              <a:t>• MID Pocket (5'-P Anchor): Buries the 5'-monophosphate coordinating Lys278, Gln545, Tyr529 (3.17 Å ≤ 4.5 Å).</a:t>
            </a:r>
          </a:p>
          <a:p>
            <a:pPr>
              <a:spcAft>
                <a:spcPts val="800"/>
              </a:spcAft>
              <a:defRPr sz="950">
                <a:solidFill>
                  <a:srgbClr val="F59E0B"/>
                </a:solidFill>
              </a:defRPr>
            </a:pPr>
            <a:r>
              <a:t>• Catalytic PIWI Triad: Asp669 / Glu635 / His807 pocket accommodates the scissile phosphate at 4.21 Å.</a:t>
            </a:r>
          </a:p>
          <a:p>
            <a:pPr>
              <a:spcAft>
                <a:spcPts val="1600"/>
              </a:spcAft>
              <a:defRPr sz="950">
                <a:solidFill>
                  <a:srgbClr val="14B8A6"/>
                </a:solidFill>
              </a:defRPr>
            </a:pPr>
            <a:r>
              <a:t>• PAZ Domain (3'-Overhang): Hydrophobic cleft secures 3'-terminal overhang at 13.98 Å (within 12–16 Å tolerance).</a:t>
            </a:r>
          </a:p>
          <a:p>
            <a:pPr>
              <a:defRPr sz="850" i="1">
                <a:solidFill>
                  <a:srgbClr val="94A3B8"/>
                </a:solidFill>
              </a:defRPr>
            </a:pPr>
            <a:r>
              <a:t>Geometric metrics are feasibility filters only — they do not claim a binding free energy or clinical activity.</a:t>
            </a:r>
          </a:p>
        </p:txBody>
      </p:sp>
      <p:sp>
        <p:nvSpPr>
          <p:cNvPr id="7" name="Rounded Rectangle 6"/>
          <p:cNvSpPr/>
          <p:nvPr/>
        </p:nvSpPr>
        <p:spPr>
          <a:xfrm>
            <a:off x="6217920" y="1645920"/>
            <a:ext cx="5242255" cy="448056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82880" tIns="164592" wrap="square"/>
          <a:lstStyle/>
          <a:p>
            <a:pPr algn="ctr">
              <a:defRPr sz="850" b="1">
                <a:solidFill>
                  <a:srgbClr val="94A3B8"/>
                </a:solidFill>
              </a:defRPr>
            </a:pPr>
            <a:r>
              <a:t>TWO DUPLEXES INSIDE THE SAME POCKET</a:t>
            </a:r>
          </a:p>
          <a:p>
            <a:pPr>
              <a:spcAft>
                <a:spcPts val="800"/>
              </a:spcAft>
              <a:defRPr sz="1300" b="1">
                <a:solidFill>
                  <a:srgbClr val="F8FAFC"/>
                </a:solidFill>
              </a:defRPr>
            </a:pPr>
            <a:r>
              <a:t>Sanctioned drug vs impaired comparator</a:t>
            </a:r>
          </a:p>
        </p:txBody>
      </p:sp>
      <p:graphicFrame>
        <p:nvGraphicFramePr>
          <p:cNvPr id="8" name="Table 7"/>
          <p:cNvGraphicFramePr>
            <a:graphicFrameLocks noGrp="1"/>
          </p:cNvGraphicFramePr>
          <p:nvPr/>
        </p:nvGraphicFramePr>
        <p:xfrm>
          <a:off x="6400800" y="2377440"/>
          <a:ext cx="4876495" cy="2103120"/>
        </p:xfrm>
        <a:graphic>
          <a:graphicData uri="http://schemas.openxmlformats.org/drawingml/2006/table">
            <a:tbl>
              <a:tblPr firstRow="1" bandRow="1">
                <a:tableStyleId>{5C22544A-7EE6-4342-B048-85BDC9FD1C3A}</a:tableStyleId>
              </a:tblPr>
              <a:tblGrid>
                <a:gridCol w="1645920"/>
                <a:gridCol w="1005840"/>
                <a:gridCol w="1005840"/>
                <a:gridCol w="1218895"/>
              </a:tblGrid>
              <a:tr h="350520">
                <a:tc>
                  <a:txBody>
                    <a:bodyPr/>
                    <a:lstStyle/>
                    <a:p>
                      <a:pPr>
                        <a:defRPr sz="800" b="1">
                          <a:solidFill>
                            <a:srgbClr val="94A3B8"/>
                          </a:solidFill>
                        </a:defRPr>
                      </a:pPr>
                      <a:r>
                        <a:t>GEO. DESCRIPTOR</a:t>
                      </a:r>
                    </a:p>
                  </a:txBody>
                  <a:tcPr>
                    <a:solidFill>
                      <a:srgbClr val="0D1626"/>
                    </a:solidFill>
                  </a:tcPr>
                </a:tc>
                <a:tc>
                  <a:txBody>
                    <a:bodyPr/>
                    <a:lstStyle/>
                    <a:p>
                      <a:pPr>
                        <a:defRPr sz="800" b="1">
                          <a:solidFill>
                            <a:srgbClr val="94A3B8"/>
                          </a:solidFill>
                        </a:defRPr>
                      </a:pPr>
                      <a:r>
                        <a:t>PATISIRAN</a:t>
                      </a:r>
                    </a:p>
                  </a:txBody>
                  <a:tcPr>
                    <a:solidFill>
                      <a:srgbClr val="0D1626"/>
                    </a:solidFill>
                  </a:tcPr>
                </a:tc>
                <a:tc>
                  <a:txBody>
                    <a:bodyPr/>
                    <a:lstStyle/>
                    <a:p>
                      <a:pPr>
                        <a:defRPr sz="800" b="1">
                          <a:solidFill>
                            <a:srgbClr val="94A3B8"/>
                          </a:solidFill>
                        </a:defRPr>
                      </a:pPr>
                      <a:r>
                        <a:t>IMPAIRED</a:t>
                      </a:r>
                    </a:p>
                  </a:txBody>
                  <a:tcPr>
                    <a:solidFill>
                      <a:srgbClr val="0D1626"/>
                    </a:solidFill>
                  </a:tcPr>
                </a:tc>
                <a:tc>
                  <a:txBody>
                    <a:bodyPr/>
                    <a:lstStyle/>
                    <a:p>
                      <a:pPr>
                        <a:defRPr sz="800" b="1">
                          <a:solidFill>
                            <a:srgbClr val="94A3B8"/>
                          </a:solidFill>
                        </a:defRPr>
                      </a:pPr>
                      <a:r>
                        <a:t>TOLERANCE</a:t>
                      </a:r>
                    </a:p>
                  </a:txBody>
                  <a:tcPr>
                    <a:solidFill>
                      <a:srgbClr val="0D1626"/>
                    </a:solidFill>
                  </a:tcPr>
                </a:tc>
              </a:tr>
              <a:tr h="350520">
                <a:tc>
                  <a:txBody>
                    <a:bodyPr/>
                    <a:lstStyle/>
                    <a:p>
                      <a:pPr>
                        <a:defRPr sz="850">
                          <a:solidFill>
                            <a:srgbClr val="F8FAFC"/>
                          </a:solidFill>
                        </a:defRPr>
                      </a:pPr>
                      <a:r>
                        <a:t>MID proxy (Å)</a:t>
                      </a:r>
                    </a:p>
                  </a:txBody>
                  <a:tcPr>
                    <a:solidFill>
                      <a:srgbClr val="0D1626"/>
                    </a:solidFill>
                  </a:tcPr>
                </a:tc>
                <a:tc>
                  <a:txBody>
                    <a:bodyPr/>
                    <a:lstStyle/>
                    <a:p>
                      <a:pPr>
                        <a:defRPr sz="850" b="1">
                          <a:solidFill>
                            <a:srgbClr val="14B8A6"/>
                          </a:solidFill>
                        </a:defRPr>
                      </a:pPr>
                      <a:r>
                        <a:t>3.17</a:t>
                      </a:r>
                    </a:p>
                  </a:txBody>
                  <a:tcPr>
                    <a:solidFill>
                      <a:srgbClr val="0D1626"/>
                    </a:solidFill>
                  </a:tcPr>
                </a:tc>
                <a:tc>
                  <a:txBody>
                    <a:bodyPr/>
                    <a:lstStyle/>
                    <a:p>
                      <a:pPr>
                        <a:defRPr sz="850">
                          <a:solidFill>
                            <a:srgbClr val="F8FAFC"/>
                          </a:solidFill>
                        </a:defRPr>
                      </a:pPr>
                      <a:r>
                        <a:t>3.17</a:t>
                      </a:r>
                    </a:p>
                  </a:txBody>
                  <a:tcPr>
                    <a:solidFill>
                      <a:srgbClr val="0D1626"/>
                    </a:solidFill>
                  </a:tcPr>
                </a:tc>
                <a:tc>
                  <a:txBody>
                    <a:bodyPr/>
                    <a:lstStyle/>
                    <a:p>
                      <a:pPr>
                        <a:defRPr sz="850">
                          <a:solidFill>
                            <a:srgbClr val="F8FAFC"/>
                          </a:solidFill>
                        </a:defRPr>
                      </a:pPr>
                      <a:r>
                        <a:t>≤ 4.5 Å</a:t>
                      </a:r>
                    </a:p>
                  </a:txBody>
                  <a:tcPr>
                    <a:solidFill>
                      <a:srgbClr val="0D1626"/>
                    </a:solidFill>
                  </a:tcPr>
                </a:tc>
              </a:tr>
              <a:tr h="350520">
                <a:tc>
                  <a:txBody>
                    <a:bodyPr/>
                    <a:lstStyle/>
                    <a:p>
                      <a:pPr>
                        <a:defRPr sz="850">
                          <a:solidFill>
                            <a:srgbClr val="F8FAFC"/>
                          </a:solidFill>
                        </a:defRPr>
                      </a:pPr>
                      <a:r>
                        <a:t>PIWI proxy (Å)</a:t>
                      </a:r>
                    </a:p>
                  </a:txBody>
                  <a:tcPr>
                    <a:solidFill>
                      <a:srgbClr val="0D1626"/>
                    </a:solidFill>
                  </a:tcPr>
                </a:tc>
                <a:tc>
                  <a:txBody>
                    <a:bodyPr/>
                    <a:lstStyle/>
                    <a:p>
                      <a:pPr>
                        <a:defRPr sz="850" b="1">
                          <a:solidFill>
                            <a:srgbClr val="14B8A6"/>
                          </a:solidFill>
                        </a:defRPr>
                      </a:pPr>
                      <a:r>
                        <a:t>4.21</a:t>
                      </a:r>
                    </a:p>
                  </a:txBody>
                  <a:tcPr>
                    <a:solidFill>
                      <a:srgbClr val="0D1626"/>
                    </a:solidFill>
                  </a:tcPr>
                </a:tc>
                <a:tc>
                  <a:txBody>
                    <a:bodyPr/>
                    <a:lstStyle/>
                    <a:p>
                      <a:pPr>
                        <a:defRPr sz="850" b="1">
                          <a:solidFill>
                            <a:srgbClr val="F43F5E"/>
                          </a:solidFill>
                        </a:defRPr>
                      </a:pPr>
                      <a:r>
                        <a:t>10.42</a:t>
                      </a:r>
                    </a:p>
                  </a:txBody>
                  <a:tcPr>
                    <a:solidFill>
                      <a:srgbClr val="0D1626"/>
                    </a:solidFill>
                  </a:tcPr>
                </a:tc>
                <a:tc>
                  <a:txBody>
                    <a:bodyPr/>
                    <a:lstStyle/>
                    <a:p>
                      <a:pPr>
                        <a:defRPr sz="850">
                          <a:solidFill>
                            <a:srgbClr val="F8FAFC"/>
                          </a:solidFill>
                        </a:defRPr>
                      </a:pPr>
                      <a:r>
                        <a:t>≤ 5.5 Å</a:t>
                      </a:r>
                    </a:p>
                  </a:txBody>
                  <a:tcPr>
                    <a:solidFill>
                      <a:srgbClr val="0D1626"/>
                    </a:solidFill>
                  </a:tcPr>
                </a:tc>
              </a:tr>
              <a:tr h="350520">
                <a:tc>
                  <a:txBody>
                    <a:bodyPr/>
                    <a:lstStyle/>
                    <a:p>
                      <a:pPr>
                        <a:defRPr sz="850">
                          <a:solidFill>
                            <a:srgbClr val="F8FAFC"/>
                          </a:solidFill>
                        </a:defRPr>
                      </a:pPr>
                      <a:r>
                        <a:t>PAZ proxy (Å)</a:t>
                      </a:r>
                    </a:p>
                  </a:txBody>
                  <a:tcPr>
                    <a:solidFill>
                      <a:srgbClr val="0D1626"/>
                    </a:solidFill>
                  </a:tcPr>
                </a:tc>
                <a:tc>
                  <a:txBody>
                    <a:bodyPr/>
                    <a:lstStyle/>
                    <a:p>
                      <a:pPr>
                        <a:defRPr sz="850" b="1">
                          <a:solidFill>
                            <a:srgbClr val="14B8A6"/>
                          </a:solidFill>
                        </a:defRPr>
                      </a:pPr>
                      <a:r>
                        <a:t>13.98</a:t>
                      </a:r>
                    </a:p>
                  </a:txBody>
                  <a:tcPr>
                    <a:solidFill>
                      <a:srgbClr val="0D1626"/>
                    </a:solidFill>
                  </a:tcPr>
                </a:tc>
                <a:tc>
                  <a:txBody>
                    <a:bodyPr/>
                    <a:lstStyle/>
                    <a:p>
                      <a:pPr>
                        <a:defRPr sz="850">
                          <a:solidFill>
                            <a:srgbClr val="F8FAFC"/>
                          </a:solidFill>
                        </a:defRPr>
                      </a:pPr>
                      <a:r>
                        <a:t>13.98</a:t>
                      </a:r>
                    </a:p>
                  </a:txBody>
                  <a:tcPr>
                    <a:solidFill>
                      <a:srgbClr val="0D1626"/>
                    </a:solidFill>
                  </a:tcPr>
                </a:tc>
                <a:tc>
                  <a:txBody>
                    <a:bodyPr/>
                    <a:lstStyle/>
                    <a:p>
                      <a:pPr>
                        <a:defRPr sz="850">
                          <a:solidFill>
                            <a:srgbClr val="F8FAFC"/>
                          </a:solidFill>
                        </a:defRPr>
                      </a:pPr>
                      <a:r>
                        <a:t>12–16 Å</a:t>
                      </a:r>
                    </a:p>
                  </a:txBody>
                  <a:tcPr>
                    <a:solidFill>
                      <a:srgbClr val="0D1626"/>
                    </a:solidFill>
                  </a:tcPr>
                </a:tc>
              </a:tr>
              <a:tr h="350520">
                <a:tc>
                  <a:txBody>
                    <a:bodyPr/>
                    <a:lstStyle/>
                    <a:p>
                      <a:pPr>
                        <a:defRPr sz="850">
                          <a:solidFill>
                            <a:srgbClr val="F8FAFC"/>
                          </a:solidFill>
                        </a:defRPr>
                      </a:pPr>
                      <a:r>
                        <a:t>Steric clash score</a:t>
                      </a:r>
                    </a:p>
                  </a:txBody>
                  <a:tcPr>
                    <a:solidFill>
                      <a:srgbClr val="0D1626"/>
                    </a:solidFill>
                  </a:tcPr>
                </a:tc>
                <a:tc>
                  <a:txBody>
                    <a:bodyPr/>
                    <a:lstStyle/>
                    <a:p>
                      <a:pPr>
                        <a:defRPr sz="850" b="1">
                          <a:solidFill>
                            <a:srgbClr val="14B8A6"/>
                          </a:solidFill>
                        </a:defRPr>
                      </a:pPr>
                      <a:r>
                        <a:t>0.8</a:t>
                      </a:r>
                    </a:p>
                  </a:txBody>
                  <a:tcPr>
                    <a:solidFill>
                      <a:srgbClr val="0D1626"/>
                    </a:solidFill>
                  </a:tcPr>
                </a:tc>
                <a:tc>
                  <a:txBody>
                    <a:bodyPr/>
                    <a:lstStyle/>
                    <a:p>
                      <a:pPr>
                        <a:defRPr sz="850" b="1">
                          <a:solidFill>
                            <a:srgbClr val="F43F5E"/>
                          </a:solidFill>
                        </a:defRPr>
                      </a:pPr>
                      <a:r>
                        <a:t>24.8</a:t>
                      </a:r>
                    </a:p>
                  </a:txBody>
                  <a:tcPr>
                    <a:solidFill>
                      <a:srgbClr val="0D1626"/>
                    </a:solidFill>
                  </a:tcPr>
                </a:tc>
                <a:tc>
                  <a:txBody>
                    <a:bodyPr/>
                    <a:lstStyle/>
                    <a:p>
                      <a:pPr>
                        <a:defRPr sz="850">
                          <a:solidFill>
                            <a:srgbClr val="F8FAFC"/>
                          </a:solidFill>
                        </a:defRPr>
                      </a:pPr>
                      <a:r>
                        <a:t>≤ 4 clean</a:t>
                      </a:r>
                    </a:p>
                  </a:txBody>
                  <a:tcPr>
                    <a:solidFill>
                      <a:srgbClr val="0D1626"/>
                    </a:solidFill>
                  </a:tcPr>
                </a:tc>
              </a:tr>
              <a:tr h="350520">
                <a:tc>
                  <a:txBody>
                    <a:bodyPr/>
                    <a:lstStyle/>
                    <a:p>
                      <a:pPr>
                        <a:defRPr sz="850">
                          <a:solidFill>
                            <a:srgbClr val="F8FAFC"/>
                          </a:solidFill>
                        </a:defRPr>
                      </a:pPr>
                      <a:r>
                        <a:t>Compat. score</a:t>
                      </a:r>
                    </a:p>
                  </a:txBody>
                  <a:tcPr>
                    <a:solidFill>
                      <a:srgbClr val="0D1626"/>
                    </a:solidFill>
                  </a:tcPr>
                </a:tc>
                <a:tc>
                  <a:txBody>
                    <a:bodyPr/>
                    <a:lstStyle/>
                    <a:p>
                      <a:pPr>
                        <a:defRPr sz="850" b="1">
                          <a:solidFill>
                            <a:srgbClr val="14B8A6"/>
                          </a:solidFill>
                        </a:defRPr>
                      </a:pPr>
                      <a:r>
                        <a:t>-15.2</a:t>
                      </a:r>
                    </a:p>
                  </a:txBody>
                  <a:tcPr>
                    <a:solidFill>
                      <a:srgbClr val="0D1626"/>
                    </a:solidFill>
                  </a:tcPr>
                </a:tc>
                <a:tc>
                  <a:txBody>
                    <a:bodyPr/>
                    <a:lstStyle/>
                    <a:p>
                      <a:pPr>
                        <a:defRPr sz="850">
                          <a:solidFill>
                            <a:srgbClr val="F8FAFC"/>
                          </a:solidFill>
                        </a:defRPr>
                      </a:pPr>
                      <a:r>
                        <a:t>-5.6</a:t>
                      </a:r>
                    </a:p>
                  </a:txBody>
                  <a:tcPr>
                    <a:solidFill>
                      <a:srgbClr val="0D1626"/>
                    </a:solidFill>
                  </a:tcPr>
                </a:tc>
                <a:tc>
                  <a:txBody>
                    <a:bodyPr/>
                    <a:lstStyle/>
                    <a:p>
                      <a:pPr>
                        <a:defRPr sz="850">
                          <a:solidFill>
                            <a:srgbClr val="F8FAFC"/>
                          </a:solidFill>
                        </a:defRPr>
                      </a:pPr>
                      <a:r>
                        <a:t>-16.5 to -14.0</a:t>
                      </a:r>
                    </a:p>
                  </a:txBody>
                  <a:tcPr>
                    <a:solidFill>
                      <a:srgbClr val="0D1626"/>
                    </a:solidFill>
                  </a:tcPr>
                </a:tc>
              </a:tr>
            </a:tbl>
          </a:graphicData>
        </a:graphic>
      </p:graphicFrame>
      <p:sp>
        <p:nvSpPr>
          <p:cNvPr id="9" name="TextBox 8"/>
          <p:cNvSpPr txBox="1"/>
          <p:nvPr/>
        </p:nvSpPr>
        <p:spPr>
          <a:xfrm>
            <a:off x="6400800" y="4663440"/>
            <a:ext cx="4876495" cy="1371600"/>
          </a:xfrm>
          <a:prstGeom prst="rect">
            <a:avLst/>
          </a:prstGeom>
          <a:noFill/>
        </p:spPr>
        <p:txBody>
          <a:bodyPr wrap="square" lIns="0" tIns="0">
            <a:spAutoFit/>
          </a:bodyPr>
          <a:lstStyle/>
          <a:p>
            <a:pPr>
              <a:spcAft>
                <a:spcPts val="600"/>
              </a:spcAft>
              <a:defRPr sz="850" i="1">
                <a:solidFill>
                  <a:srgbClr val="CBD5E1"/>
                </a:solidFill>
              </a:defRPr>
            </a:pPr>
            <a:r>
              <a:t>The impaired comparator shows how a wrongly placed bulky modification at positions 9–11 displaces the scissile phosphate 5 Å away from the catalytic triad — silencing fails.</a:t>
            </a:r>
          </a:p>
          <a:p>
            <a:r>
              <a:rPr sz="800" b="1">
                <a:solidFill>
                  <a:srgbClr val="F59E0B"/>
                </a:solidFill>
              </a:rPr>
              <a:t>WHY THIS LAYER EXISTS: </a:t>
            </a:r>
            <a:r>
              <a:rPr sz="800">
                <a:solidFill>
                  <a:srgbClr val="CBD5E1"/>
                </a:solidFill>
              </a:rPr>
              <a:t>Pre-synth structural feasibility filter. Disqualifies geometrically incompatible candidates before synthesis, saving weeks and reagents.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none">
            <a:spAutoFit/>
          </a:bodyPr>
          <a:lstStyle/>
          <a:p>
            <a:pPr>
              <a:defRPr sz="1000" b="1">
                <a:solidFill>
                  <a:srgbClr val="0EA5E9"/>
                </a:solidFill>
              </a:defRPr>
            </a:pPr>
            <a:r>
              <a:t>// WHAT'S NEXT</a:t>
            </a:r>
          </a:p>
        </p:txBody>
      </p:sp>
      <p:sp>
        <p:nvSpPr>
          <p:cNvPr id="4" name="TextBox 3"/>
          <p:cNvSpPr txBox="1"/>
          <p:nvPr/>
        </p:nvSpPr>
        <p:spPr>
          <a:xfrm>
            <a:off x="731520" y="640080"/>
            <a:ext cx="10789920" cy="548640"/>
          </a:xfrm>
          <a:prstGeom prst="rect">
            <a:avLst/>
          </a:prstGeom>
          <a:noFill/>
        </p:spPr>
        <p:txBody>
          <a:bodyPr wrap="none">
            <a:spAutoFit/>
          </a:bodyPr>
          <a:lstStyle/>
          <a:p>
            <a:pPr>
              <a:defRPr sz="2400" b="1">
                <a:solidFill>
                  <a:srgbClr val="F8FAFC"/>
                </a:solidFill>
              </a:defRPr>
            </a:pPr>
            <a:r>
              <a:t>Future horizons &amp; live demo</a:t>
            </a:r>
          </a:p>
        </p:txBody>
      </p:sp>
      <p:sp>
        <p:nvSpPr>
          <p:cNvPr id="5" name="TextBox 4"/>
          <p:cNvSpPr txBox="1"/>
          <p:nvPr/>
        </p:nvSpPr>
        <p:spPr>
          <a:xfrm>
            <a:off x="731520" y="1234440"/>
            <a:ext cx="10789920" cy="365760"/>
          </a:xfrm>
          <a:prstGeom prst="rect">
            <a:avLst/>
          </a:prstGeom>
          <a:noFill/>
        </p:spPr>
        <p:txBody>
          <a:bodyPr wrap="none">
            <a:spAutoFit/>
          </a:bodyPr>
          <a:lstStyle/>
          <a:p>
            <a:pPr>
              <a:defRPr sz="1100">
                <a:solidFill>
                  <a:srgbClr val="CBD5E1"/>
                </a:solidFill>
              </a:defRPr>
            </a:pPr>
            <a:r>
              <a:t>A production web service is live. The platform will keep extending — extra-hepatic targeting, all-atom dynamics relaxation, broader therapeutic programs.</a:t>
            </a:r>
          </a:p>
        </p:txBody>
      </p:sp>
      <p:sp>
        <p:nvSpPr>
          <p:cNvPr id="6" name="Rounded Rectangle 5"/>
          <p:cNvSpPr/>
          <p:nvPr/>
        </p:nvSpPr>
        <p:spPr>
          <a:xfrm>
            <a:off x="731520" y="1645920"/>
            <a:ext cx="2560320" cy="201168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00" b="1">
                <a:solidFill>
                  <a:srgbClr val="0EA5E9"/>
                </a:solidFill>
              </a:defRPr>
            </a:pPr>
            <a:r>
              <a:t>HORIZON 01</a:t>
            </a:r>
          </a:p>
          <a:p>
            <a:pPr>
              <a:spcAft>
                <a:spcPts val="600"/>
              </a:spcAft>
              <a:defRPr sz="1200" b="1">
                <a:solidFill>
                  <a:srgbClr val="F8FAFC"/>
                </a:solidFill>
              </a:defRPr>
            </a:pPr>
            <a:r>
              <a:t>Solved the chemistry blind spot</a:t>
            </a:r>
          </a:p>
          <a:p>
            <a:pPr>
              <a:defRPr sz="850">
                <a:solidFill>
                  <a:srgbClr val="CBD5E1"/>
                </a:solidFill>
              </a:defRPr>
            </a:pPr>
            <a:r>
              <a:t>577-D multi-modal ontology handling 2'-F, 2'-OMe, PS, and GalNAc replaces brittle naked-sequence predictors.</a:t>
            </a:r>
          </a:p>
        </p:txBody>
      </p:sp>
      <p:sp>
        <p:nvSpPr>
          <p:cNvPr id="7" name="Rounded Rectangle 6"/>
          <p:cNvSpPr/>
          <p:nvPr/>
        </p:nvSpPr>
        <p:spPr>
          <a:xfrm>
            <a:off x="3429000" y="1645920"/>
            <a:ext cx="2560320" cy="201168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00" b="1">
                <a:solidFill>
                  <a:srgbClr val="14B8A6"/>
                </a:solidFill>
              </a:defRPr>
            </a:pPr>
            <a:r>
              <a:t>HORIZON 02</a:t>
            </a:r>
          </a:p>
          <a:p>
            <a:pPr>
              <a:spcAft>
                <a:spcPts val="600"/>
              </a:spcAft>
              <a:defRPr sz="1200" b="1">
                <a:solidFill>
                  <a:srgbClr val="F8FAFC"/>
                </a:solidFill>
              </a:defRPr>
            </a:pPr>
            <a:r>
              <a:t>Unified affinity &amp; dose</a:t>
            </a:r>
          </a:p>
          <a:p>
            <a:pPr>
              <a:defRPr sz="850">
                <a:solidFill>
                  <a:srgbClr val="CBD5E1"/>
                </a:solidFill>
              </a:defRPr>
            </a:pPr>
            <a:r>
              <a:t>Intrinsic pIC50 disentangled from assay dose. Validated across 37,946 assays at r = 0.8049.</a:t>
            </a:r>
          </a:p>
        </p:txBody>
      </p:sp>
      <p:sp>
        <p:nvSpPr>
          <p:cNvPr id="8" name="Rounded Rectangle 7"/>
          <p:cNvSpPr/>
          <p:nvPr/>
        </p:nvSpPr>
        <p:spPr>
          <a:xfrm>
            <a:off x="6126480" y="1645920"/>
            <a:ext cx="2560320" cy="201168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00" b="1">
                <a:solidFill>
                  <a:srgbClr val="A855F7"/>
                </a:solidFill>
              </a:defRPr>
            </a:pPr>
            <a:r>
              <a:t>HORIZON 03</a:t>
            </a:r>
          </a:p>
          <a:p>
            <a:pPr>
              <a:spcAft>
                <a:spcPts val="600"/>
              </a:spcAft>
              <a:defRPr sz="1200" b="1">
                <a:solidFill>
                  <a:srgbClr val="F8FAFC"/>
                </a:solidFill>
              </a:defRPr>
            </a:pPr>
            <a:r>
              <a:t>Production web serving</a:t>
            </a:r>
          </a:p>
          <a:p>
            <a:pPr>
              <a:defRPr sz="850">
                <a:solidFill>
                  <a:srgbClr val="CBD5E1"/>
                </a:solidFill>
              </a:defRPr>
            </a:pPr>
            <a:r>
              <a:t>Containerized FastAPI backend under 150 ms inference. Streamlit 3D viewer. Live deployment below.</a:t>
            </a:r>
          </a:p>
        </p:txBody>
      </p:sp>
      <p:sp>
        <p:nvSpPr>
          <p:cNvPr id="9" name="Rounded Rectangle 8"/>
          <p:cNvSpPr/>
          <p:nvPr/>
        </p:nvSpPr>
        <p:spPr>
          <a:xfrm>
            <a:off x="8823960" y="1645920"/>
            <a:ext cx="2560320" cy="2011680"/>
          </a:xfrm>
          <a:prstGeom prst="roundRect">
            <a:avLst/>
          </a:prstGeom>
          <a:solidFill>
            <a:srgbClr val="0D1626"/>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64592" tIns="137160" wrap="square"/>
          <a:lstStyle/>
          <a:p>
            <a:pPr algn="ctr">
              <a:defRPr sz="800" b="1">
                <a:solidFill>
                  <a:srgbClr val="F59E0B"/>
                </a:solidFill>
              </a:defRPr>
            </a:pPr>
            <a:r>
              <a:t>HORIZON 04</a:t>
            </a:r>
          </a:p>
          <a:p>
            <a:pPr>
              <a:spcAft>
                <a:spcPts val="600"/>
              </a:spcAft>
              <a:defRPr sz="1200" b="1">
                <a:solidFill>
                  <a:srgbClr val="F8FAFC"/>
                </a:solidFill>
              </a:defRPr>
            </a:pPr>
            <a:r>
              <a:t>Beyond the liver</a:t>
            </a:r>
          </a:p>
          <a:p>
            <a:pPr>
              <a:defRPr sz="850">
                <a:solidFill>
                  <a:srgbClr val="CBD5E1"/>
                </a:solidFill>
              </a:defRPr>
            </a:pPr>
            <a:r>
              <a:t>CNS conjugates, antibody-siRNA conjugates, all-atom molecular dynamics relaxation. New therapeutic programs.</a:t>
            </a:r>
          </a:p>
        </p:txBody>
      </p:sp>
      <p:sp>
        <p:nvSpPr>
          <p:cNvPr id="10" name="Rounded Rectangle 9"/>
          <p:cNvSpPr/>
          <p:nvPr/>
        </p:nvSpPr>
        <p:spPr>
          <a:xfrm>
            <a:off x="731520" y="3840480"/>
            <a:ext cx="10728655" cy="1645920"/>
          </a:xfrm>
          <a:prstGeom prst="roundRect">
            <a:avLst/>
          </a:prstGeom>
          <a:solidFill>
            <a:srgbClr val="0D162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228600" tIns="164592" wrap="square"/>
          <a:lstStyle/>
          <a:p>
            <a:pPr algn="ctr">
              <a:defRPr sz="850" b="1">
                <a:solidFill>
                  <a:srgbClr val="0EA5E9"/>
                </a:solidFill>
              </a:defRPr>
            </a:pPr>
            <a:r>
              <a:t>TRY THE DEPLOYED SERVICE</a:t>
            </a:r>
          </a:p>
          <a:p>
            <a:pPr>
              <a:spcAft>
                <a:spcPts val="400"/>
              </a:spcAft>
              <a:defRPr sz="2800" b="1">
                <a:solidFill>
                  <a:srgbClr val="F8FAFC"/>
                </a:solidFill>
              </a:defRPr>
            </a:pPr>
            <a:r>
              <a:t>helixzerocms.icecloud.in</a:t>
            </a:r>
          </a:p>
          <a:p>
            <a:pPr>
              <a:defRPr sz="1000">
                <a:solidFill>
                  <a:srgbClr val="CBD5E1"/>
                </a:solidFill>
              </a:defRPr>
            </a:pPr>
            <a:r>
              <a:t>Interactive 3D Ago2 viewer. Per-drug prediction console. Modified and canonical triage both live.</a:t>
            </a:r>
          </a:p>
        </p:txBody>
      </p:sp>
      <p:sp>
        <p:nvSpPr>
          <p:cNvPr id="11" name="Rounded Rectangle 10"/>
          <p:cNvSpPr/>
          <p:nvPr/>
        </p:nvSpPr>
        <p:spPr>
          <a:xfrm>
            <a:off x="8046720" y="4114800"/>
            <a:ext cx="3108960" cy="1097280"/>
          </a:xfrm>
          <a:prstGeom prst="roundRect">
            <a:avLst/>
          </a:prstGeom>
          <a:solidFill>
            <a:srgbClr val="0A121E"/>
          </a:solidFill>
          <a:ln>
            <a:solidFill>
              <a:srgbClr val="1E304D"/>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defRPr sz="800" b="1">
                <a:solidFill>
                  <a:srgbClr val="0EA5E9"/>
                </a:solidFill>
              </a:defRPr>
            </a:pPr>
            <a:r>
              <a:t>CODEBASE</a:t>
            </a:r>
          </a:p>
          <a:p>
            <a:pPr>
              <a:defRPr sz="1100" b="1">
                <a:solidFill>
                  <a:srgbClr val="F8FAFC"/>
                </a:solidFill>
              </a:defRPr>
            </a:pPr>
            <a:r>
              <a:t>nitinjadhav888</a:t>
            </a:r>
            <a:br/>
            <a:r>
              <a:t>Helixzerocms-CDAC</a:t>
            </a:r>
          </a:p>
        </p:txBody>
      </p:sp>
      <p:sp>
        <p:nvSpPr>
          <p:cNvPr id="12" name="TextBox 11"/>
          <p:cNvSpPr txBox="1"/>
          <p:nvPr/>
        </p:nvSpPr>
        <p:spPr>
          <a:xfrm>
            <a:off x="731520" y="5669280"/>
            <a:ext cx="10789920" cy="914400"/>
          </a:xfrm>
          <a:prstGeom prst="rect">
            <a:avLst/>
          </a:prstGeom>
          <a:noFill/>
        </p:spPr>
        <p:txBody>
          <a:bodyPr wrap="none" lIns="0" tIns="0">
            <a:spAutoFit/>
          </a:bodyPr>
          <a:lstStyle/>
          <a:p>
            <a:pPr>
              <a:defRPr sz="3600" b="1">
                <a:solidFill>
                  <a:srgbClr val="F8FAFC"/>
                </a:solidFill>
              </a:defRPr>
            </a:pPr>
            <a:r>
              <a:t>Thank you.</a:t>
            </a:r>
          </a:p>
          <a:p>
            <a:pPr>
              <a:defRPr sz="1000">
                <a:solidFill>
                  <a:srgbClr val="94A3B8"/>
                </a:solidFill>
              </a:defRPr>
            </a:pPr>
            <a:r>
              <a:t>HelixZero · IEEE TNNLS 2026 · Nitin Jadhav · CDAC, Pune · Independent Research.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