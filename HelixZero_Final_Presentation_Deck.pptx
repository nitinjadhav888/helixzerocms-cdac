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" cy="4114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0EA5E9"/>
                </a:solidFill>
              </a:defRPr>
            </a:pPr>
            <a:r>
              <a:t>IEEE TRANSACTIONS ON NEURAL NETWORKS AND LEARNING SYSTEMS (IEEE TNNLS 2026)</a:t>
            </a:r>
          </a:p>
          <a:p>
            <a:pPr>
              <a:spcAft>
                <a:spcPts val="1200"/>
              </a:spcAft>
              <a:defRPr sz="3000" b="1">
                <a:solidFill>
                  <a:srgbClr val="F8FAFC"/>
                </a:solidFill>
              </a:defRPr>
            </a:pPr>
            <a:r>
              <a:t>HELIXZERO: END-TO-END COMPUTATIONAL SCREENING AND STRUCTURE-GUIDED SIRNA OPTIMIZATION</a:t>
            </a:r>
          </a:p>
          <a:p>
            <a:pPr>
              <a:spcAft>
                <a:spcPts val="3200"/>
              </a:spcAft>
              <a:defRPr sz="1500">
                <a:solidFill>
                  <a:srgbClr val="CBD5E1"/>
                </a:solidFill>
              </a:defRPr>
            </a:pPr>
            <a:r>
              <a:t>A Tripartite Machine Learning, Multi-Modal Chemical Ontology, and 3D Argonaute-2 Structural Framework for Next-Generation RNAi Therapeutics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Lead Author: Nitin Jadhav  |  Affiliation: CDAC / Independent Research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Codebase: nitinjadhav888/Helixzerocms-CDAC  |  Empirical Scope: 40,255 Measured Assays  |  PDB: 4W5N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// EXECUTIVE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Transforming RNAi Drug Discovery with Multi-Modal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1556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From naked sequence heuristics to modern chemistry-aware, dose-conditioned, and structure-validated siRNA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899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HelixZero: End-to-End Computational Screening &amp; Structure-Guided siRNA Optimization | IEEE TNNLS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74720" cy="44805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31089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The Chemical Complexity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CBD5E1"/>
                </a:solidFill>
              </a:defRPr>
            </a:pPr>
            <a:r>
              <a:t>• Modern therapeutic siRNAs are NOT naked RNA: 100% of commercial drugs have full chemical modifications (2'-F, 2'-OMe, PS linkages, GalNAc conjugates).</a:t>
            </a:r>
          </a:p>
          <a:p>
            <a:pPr>
              <a:spcAft>
                <a:spcPts val="1200"/>
              </a:spcAft>
              <a:defRPr sz="1100">
                <a:solidFill>
                  <a:srgbClr val="CBD5E1"/>
                </a:solidFill>
              </a:defRPr>
            </a:pPr>
            <a:r>
              <a:t>• Naked sequence models collapse on modified duplexes (Pearson r = 0.2070 on CMsiRNAdb modified benchmarks).</a:t>
            </a:r>
          </a:p>
          <a:p>
            <a:pPr>
              <a:spcAft>
                <a:spcPts val="1200"/>
              </a:spcAft>
              <a:defRPr sz="1100">
                <a:solidFill>
                  <a:srgbClr val="CBD5E1"/>
                </a:solidFill>
              </a:defRPr>
            </a:pPr>
            <a:r>
              <a:t>• Modification effects are strictly non-additive: a single 2'-F at guide position 14 can boost cleavage 10-fold, while at position 9 it sterically clashes.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474720" cy="44805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83080"/>
            <a:ext cx="31089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The HelixZero Tripartite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CBD5E1"/>
                </a:solidFill>
              </a:defRPr>
            </a:pPr>
            <a:r>
              <a:t>• Orthogonal Multi-Modal Chemical Ontologies: Uncoupling sugar chemistry, phosphate linkage, nucleobase modification, and terminal conjugates.</a:t>
            </a:r>
          </a:p>
          <a:p>
            <a:pPr>
              <a:spcAft>
                <a:spcPts val="1200"/>
              </a:spcAft>
              <a:defRPr sz="1100">
                <a:solidFill>
                  <a:srgbClr val="CBD5E1"/>
                </a:solidFill>
              </a:defRPr>
            </a:pPr>
            <a:r>
              <a:t>• 577-Dimensional Hybrid Feature Vector: Fusing explicit positional flags, RNA foundation models (RNA-FM, RNAErnie), and thermodynamics.</a:t>
            </a:r>
          </a:p>
          <a:p>
            <a:pPr>
              <a:spcAft>
                <a:spcPts val="1200"/>
              </a:spcAft>
              <a:defRPr sz="1100">
                <a:solidFill>
                  <a:srgbClr val="CBD5E1"/>
                </a:solidFill>
              </a:defRPr>
            </a:pPr>
            <a:r>
              <a:t>• Hierarchical Potency-Response Architecture: Jointly predicting intrinsic potency (pIC50) and concentration-dependent knockdown curves.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474720" cy="44805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783080"/>
            <a:ext cx="31089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Empirical &amp; Clinical Proof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19456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CBD5E1"/>
                </a:solidFill>
              </a:defRPr>
            </a:pPr>
            <a:r>
              <a:t>• 40,255-Assay Master Corpus: 5-fold cross-validation achieves Pearson r = 0.8049, Spearman ρ = 0.8018, R² = 0.6410.</a:t>
            </a:r>
          </a:p>
          <a:p>
            <a:pPr>
              <a:spcAft>
                <a:spcPts val="1200"/>
              </a:spcAft>
              <a:defRPr sz="1100">
                <a:solidFill>
                  <a:srgbClr val="CBD5E1"/>
                </a:solidFill>
              </a:defRPr>
            </a:pPr>
            <a:r>
              <a:t>• FDA Commercial Therapeutics Panel: Accurately predicts clinical potency across Givosiran, Patisiran, Inclisiran, and Lumasiran (0.83–2.24 nM).</a:t>
            </a:r>
          </a:p>
          <a:p>
            <a:pPr>
              <a:spcAft>
                <a:spcPts val="1200"/>
              </a:spcAft>
              <a:defRPr sz="1100">
                <a:solidFill>
                  <a:srgbClr val="CBD5E1"/>
                </a:solidFill>
              </a:defRPr>
            </a:pPr>
            <a:r>
              <a:t>• 3D Ago2 Structural Docking: Human Ago2 (PDB 4W5N) template modeling flags steric clashes and confirms active-site geometric compatibility.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// METHODOLOGY &amp; PILLARS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The Four Co-Optimized Dimensions of siRNA Efficacy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1556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Activity is governed by the non-linear interplay of sequence, chemistry, dose, and receptor geometry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899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HelixZero: End-to-End Computational Screening &amp; Structure-Guided siRNA Optimization | IEEE TNNLS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606040" cy="44805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22402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PILLAR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574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Sequence Screening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56032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</a:defRPr>
            </a:pPr>
            <a:r>
              <a:t>✔ Target mRNA transcript alignment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</a:defRPr>
            </a:pPr>
            <a:r>
              <a:t>✔ Thermodynamic terminal asymmetry (ΔΔG)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</a:defRPr>
            </a:pPr>
            <a:r>
              <a:t>✔ GC-clamp &amp; seed fluidity (pos 2–7)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</a:defRPr>
            </a:pPr>
            <a:r>
              <a:t>✔ Off-target seed cytotoxicity filtering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645920"/>
            <a:ext cx="2606040" cy="44805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783080"/>
            <a:ext cx="22402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PILLAR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0574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Chemical Ontology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256032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</a:defRPr>
            </a:pPr>
            <a:r>
              <a:t>✔ Orthogonal 6-attribute slot model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</a:defRPr>
            </a:pPr>
            <a:r>
              <a:t>✔ 2'-OMe, 2'-F, 2'-MOE, LNA sugars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</a:defRPr>
            </a:pPr>
            <a:r>
              <a:t>✔ Phosphorothioate (PS) stereochemistry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</a:defRPr>
            </a:pPr>
            <a:r>
              <a:t>✔ Triantennary GalNAc targeting ligands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45920"/>
            <a:ext cx="2606040" cy="44805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2402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PILLAR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574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Dose Potency Curve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56032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</a:defRPr>
            </a:pPr>
            <a:r>
              <a:t>✔ Hierarchical pIC50 regressor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</a:defRPr>
            </a:pPr>
            <a:r>
              <a:t>✔ 4-parameter Hill concentration response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</a:defRPr>
            </a:pPr>
            <a:r>
              <a:t>✔ Standardized 10 nM clinical benchmarking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</a:defRPr>
            </a:pPr>
            <a:r>
              <a:t>✔ Multi-dose guide partition (N=8,159)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1645920"/>
            <a:ext cx="2606040" cy="44805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783080"/>
            <a:ext cx="22402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PILLAR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20574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3D Ago2 Docking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5712" y="256032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</a:defRPr>
            </a:pPr>
            <a:r>
              <a:t>✔ Human Ago2 crystal reference (4W5N)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</a:defRPr>
            </a:pPr>
            <a:r>
              <a:t>✔ MID pocket 5'-phosphate anchoring (≤4.5 Å)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</a:defRPr>
            </a:pPr>
            <a:r>
              <a:t>✔ PAZ domain 3'-overhang fit (12–15 Å)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</a:defRPr>
            </a:pPr>
            <a:r>
              <a:t>✔ PIWI catalytic proxy distance &amp; clash filtering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// DATA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Comprehensive Ten-Resource Public-Data Taxonomy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1556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Curating 40,255 measured records, 3,535 canonical duplexes, 549 patent/clinical compounds, and human Ago2 coordinates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899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HelixZero: End-to-End Computational Screening &amp; Structure-Guided siRNA Optimization | IEEE TNNLS 2026</a:t>
            </a:r>
          </a:p>
        </p:txBody>
      </p:sp>
      <p:pic>
        <p:nvPicPr>
          <p:cNvPr id="8" name="Picture 7" descr="helixzero_10_resource_dataset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72865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// CHEMICAL REPRESENTATION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Orthogonal Slot-Based Chemical Ontologies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1556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Resolving positional chemistry conflicts by decoupling sugar, linkage, base, and conjugate states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899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HelixZero: End-to-End Computational Screening &amp; Structure-Guided siRNA Optimization | IEEE TNNLS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303520" cy="44805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4937759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The Slot-Based Nucleotide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49377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■ Mathematical Formulation: 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Every nucleotide is formalized as a 6-attribute tuple: s_i = (b_i, q_i, l_i, m_i, t_i, c_i), where b=base, q=sugar, l=linkage, m=base mod, t=terminal state, c=conjugate.</a:t>
            </a:r>
          </a:p>
          <a:p>
            <a:pPr>
              <a:defRPr sz="1100" b="1">
                <a:solidFill>
                  <a:srgbClr val="0EA5E9"/>
                </a:solidFill>
              </a:defRPr>
            </a:pPr>
            <a:r>
              <a:t>■ Resolving Competing Notations: 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Legacy strings collapse 2'-F and PS linkages into a single character, creating ambiguity. The slot model represents both independently without loss of chemical state.</a:t>
            </a:r>
          </a:p>
          <a:p>
            <a:pPr>
              <a:defRPr sz="1100" b="1">
                <a:solidFill>
                  <a:srgbClr val="0EA5E9"/>
                </a:solidFill>
              </a:defRPr>
            </a:pPr>
            <a:r>
              <a:t>■ Biophysical Rule Preservation: 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Directly encodes critical structural constraints: seed region rigidification (pos 2–8), cleavage-sparing central core (pos 9–11), and terminal thermodynamic asymmetry.</a:t>
            </a:r>
          </a:p>
          <a:p>
            <a:pPr>
              <a:defRPr sz="1100" b="1">
                <a:solidFill>
                  <a:srgbClr val="0EA5E9"/>
                </a:solidFill>
              </a:defRPr>
            </a:pPr>
            <a:r>
              <a:t>■ GalNAc Conjugate Integration: 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Seamlessly models multi-valent triantennary GalNAc targeting moieties at sense 3'/5' termini for liver asialoglycoprotein receptor (ASGPR) uptake.</a:t>
            </a:r>
          </a:p>
        </p:txBody>
      </p:sp>
      <p:pic>
        <p:nvPicPr>
          <p:cNvPr id="11" name="Picture 10" descr="Fig2_siRNA_Functional_Anat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12064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// 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577-Dimensional Multi-Modal Feature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1556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Integrating explicit positional chemistry flags, foundation-model representations, and thermodynamic calculations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899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HelixZero: End-to-End Computational Screening &amp; Structure-Guided siRNA Optimization | IEEE TNNLS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560320" cy="20116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21945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Positional Chemistry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574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420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231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CBD5E1"/>
                </a:solidFill>
              </a:defRPr>
            </a:pPr>
            <a:r>
              <a:t>Ten explicit binary flags at each of 21 nucleotide positions on both strands (8 sugar states, PS linkages, base modifications).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645920"/>
            <a:ext cx="2560320" cy="20116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783080"/>
            <a:ext cx="21945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RNA Foundation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574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B8A6"/>
                </a:solidFill>
              </a:defRPr>
            </a:pPr>
            <a:r>
              <a:t>128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4231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CBD5E1"/>
                </a:solidFill>
              </a:defRPr>
            </a:pPr>
            <a:r>
              <a:t>Pre-trained deep biological representations: RNA-FM (64 PCA components) + RNAErnie (64 PCA components) capturing contextual sequence semantics.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645920"/>
            <a:ext cx="2560320" cy="20116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783080"/>
            <a:ext cx="21945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Engineered Biophysics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0574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A855F7"/>
                </a:solidFill>
              </a:defRPr>
            </a:pPr>
            <a:r>
              <a:t>24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4231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CBD5E1"/>
                </a:solidFill>
              </a:defRPr>
            </a:pPr>
            <a:r>
              <a:t>Seed-region rigidity indices, strand modification density, terminal phosphorothioate distribution, ASGPR conjugate indicators, and sequence composition.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1645920"/>
            <a:ext cx="2560320" cy="20116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1783080"/>
            <a:ext cx="21945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Thermodynamics &amp; GC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0574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5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24231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CBD5E1"/>
                </a:solidFill>
              </a:defRPr>
            </a:pPr>
            <a:r>
              <a:t>Nearest-neighbor Gibbs free energy (ΔG), terminal 5'-/3'-asymmetry (ΔΔG), GC content, and secondary structure melting profiles.</a:t>
            </a:r>
          </a:p>
        </p:txBody>
      </p:sp>
      <p:pic>
        <p:nvPicPr>
          <p:cNvPr id="24" name="Picture 23" descr="Fig3_Featur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40480"/>
            <a:ext cx="10728655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// MACHINE LEARNING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Tripartite Strategy &amp; Domain-Specific Model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1556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Aligning model complexity with chemical modification state to avoid negative cross-domain transfer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899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HelixZero: End-to-End Computational Screening &amp; Structure-Guided siRNA Optimization | IEEE TNNLS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560320" cy="44805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21945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Model 1: LightGBM Canonical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574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Canonical / Unmodified Sequences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774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8FAFC"/>
                </a:solidFill>
              </a:defRPr>
            </a:pPr>
            <a:r>
              <a:t>Huesken: r = 0.8044 | Takayuki: r = 0.8788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34640"/>
            <a:ext cx="2286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Ultra-fast gradient boosted decision tree optimized on sequence kmers and thermodynamic asymmetry. Dominates canonical screening but intentionally lacks chemical awareness.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645920"/>
            <a:ext cx="2560320" cy="44805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783080"/>
            <a:ext cx="21945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Model 2: CatBoost v4 Chemistry-Aware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0574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B8A6"/>
                </a:solidFill>
              </a:defRPr>
            </a:pPr>
            <a:r>
              <a:t>Modified Duplex Regressions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774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8FAFC"/>
                </a:solidFill>
              </a:defRPr>
            </a:pPr>
            <a:r>
              <a:t>CMsiRNAdb: r = 0.7401 | AUC = 0.8745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834640"/>
            <a:ext cx="2286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Trains on full 577-D feature vectors. Leverages symmetric trees to prevent overfitting across sparse chemical modification patterns. Solves the modified-duplex failure of naked models.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645920"/>
            <a:ext cx="2560320" cy="44805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783080"/>
            <a:ext cx="21945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Model 3: Duplex Graph Network (GNN)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0574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855F7"/>
                </a:solidFill>
              </a:defRPr>
            </a:pPr>
            <a:r>
              <a:t>Inter-Strand Topology &amp; Geometry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3774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8FAFC"/>
                </a:solidFill>
              </a:defRPr>
            </a:pPr>
            <a:r>
              <a:t>Topology-Aware Sequence 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834640"/>
            <a:ext cx="2286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Bidirectional graph neural network modeling Watson-Crick and wobble pairing interactions across strands, capturing spatial chemical context and helix stability.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23960" y="1645920"/>
            <a:ext cx="2560320" cy="44805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6840" y="1783080"/>
            <a:ext cx="21945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Model 4: Hierarchical Potency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20574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Dose-Dependent Hill Response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23774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8FAFC"/>
                </a:solidFill>
              </a:defRPr>
            </a:pPr>
            <a:r>
              <a:t>5-Fold CV: r = 0.8049 | r_s = 0.8018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2834640"/>
            <a:ext cx="2286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Two-stage regressor predicting intrinsic pIC50 potency followed by concentration-conditioned sigmoidal knockdown response across 68 dose levels (0.00017–1000 nM).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// POTENCY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Hierarchical Potency–Response Prediction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1556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Disentangling sequence–chemistry intrinsic affinity (pIC50) from experimental assay concentration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899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HelixZero: End-to-End Computational Screening &amp; Structure-Guided siRNA Optimization | IEEE TNNLS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468880" cy="1371600"/>
          </a:xfrm>
          <a:prstGeom prst="roundRect">
            <a:avLst/>
          </a:prstGeom>
          <a:solidFill>
            <a:srgbClr val="182336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219456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r = 0.8049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04288"/>
            <a:ext cx="21945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Pearson Correlation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0604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5-Partition Guide Evaluation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2468880" cy="1371600"/>
          </a:xfrm>
          <a:prstGeom prst="roundRect">
            <a:avLst/>
          </a:prstGeom>
          <a:solidFill>
            <a:srgbClr val="182336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37560"/>
            <a:ext cx="219456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14B8A6"/>
                </a:solidFill>
              </a:defRPr>
            </a:pPr>
            <a:r>
              <a:t>ρ = 0.8018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858768"/>
            <a:ext cx="21945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Spearman Rank Correlation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6052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Strict monotonic preservation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54880"/>
            <a:ext cx="2468880" cy="1371600"/>
          </a:xfrm>
          <a:prstGeom prst="roundRect">
            <a:avLst/>
          </a:prstGeom>
          <a:solidFill>
            <a:srgbClr val="182336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892040"/>
            <a:ext cx="219456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A855F7"/>
                </a:solidFill>
              </a:defRPr>
            </a:pPr>
            <a:r>
              <a:t>R² = 0.6410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413248"/>
            <a:ext cx="21945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Coefficient of Determination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7150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RMSE = 18.63 pp across 68 doses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1645920"/>
            <a:ext cx="7955279" cy="44805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1783080"/>
            <a:ext cx="7589519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Two-Stage Sigmoidal Response 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194560"/>
            <a:ext cx="7406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EA5E9"/>
                </a:solidFill>
              </a:defRPr>
            </a:pPr>
            <a:r>
              <a:t>✔ Stage 1: Intrinsic Potency Regressor: 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</a:defRPr>
            </a:pPr>
            <a:r>
              <a:t>CatBoost regressor maps the 577-D feature vector to intrinsic duplex potency pIC50 = -log10(IC50 in M). Trained on 2,309 multi-dose curves with R² ≥ 0.75.</a:t>
            </a:r>
          </a:p>
          <a:p>
            <a:pPr>
              <a:defRPr sz="1150" b="1">
                <a:solidFill>
                  <a:srgbClr val="0EA5E9"/>
                </a:solidFill>
              </a:defRPr>
            </a:pPr>
            <a:r>
              <a:t>✔ Stage 2: Concentration-Conditioned Knockdown: 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</a:defRPr>
            </a:pPr>
            <a:r>
              <a:t>Second regressor takes predicted pIC50 alongside assay concentration C (nM) and thermodynamic descriptors to compute predicted % knockdown: KD = 100 / (1 + 10^(h * (pIC50 - pC))).</a:t>
            </a:r>
          </a:p>
          <a:p>
            <a:pPr>
              <a:defRPr sz="1150" b="1">
                <a:solidFill>
                  <a:srgbClr val="0EA5E9"/>
                </a:solidFill>
              </a:defRPr>
            </a:pPr>
            <a:r>
              <a:t>✔ Solving Concentration Bias: 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</a:defRPr>
            </a:pPr>
            <a:r>
              <a:t>Standard models conflate high dose with high potency. A poor siRNA at 100 nM can match an ultra-potent siRNA at 0.1 nM. HelixZero cleanly uncouples affinity from dosage.</a:t>
            </a:r>
          </a:p>
          <a:p>
            <a:pPr>
              <a:defRPr sz="1150" b="1">
                <a:solidFill>
                  <a:srgbClr val="0EA5E9"/>
                </a:solidFill>
              </a:defRPr>
            </a:pPr>
            <a:r>
              <a:t>✔ Multi-Dose Guide Partition (N = 8,159): 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</a:defRPr>
            </a:pPr>
            <a:r>
              <a:t>Tested on an independent guide partition across 37,946 assays: Pearson r = 0.8365, Spearman ρ = 0.8335, MAE = 13.82 pp, RMSE = 17.12 pp, ROC-AUC = 0.9331.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// CANONICAL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Rigorous Validation on Unmodified siRNAs (N = 3,535)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1556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State-of-the-art performance across historical benchmark collections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899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HelixZero: End-to-End Computational Screening &amp; Structure-Guided siRNA Optimization | IEEE TNNLS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45920"/>
          <a:ext cx="1072865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097280"/>
                <a:gridCol w="1371600"/>
                <a:gridCol w="1371600"/>
                <a:gridCol w="1371600"/>
                <a:gridCol w="1401775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EA5E9"/>
                          </a:solidFill>
                        </a:defRPr>
                      </a:pPr>
                      <a:r>
                        <a:t>Benchmark Dataset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EA5E9"/>
                          </a:solidFill>
                        </a:defRPr>
                      </a:pPr>
                      <a:r>
                        <a:t>Evaluated Model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EA5E9"/>
                          </a:solidFill>
                        </a:defRPr>
                      </a:pPr>
                      <a:r>
                        <a:t>Sample N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EA5E9"/>
                          </a:solidFill>
                        </a:defRPr>
                      </a:pPr>
                      <a:r>
                        <a:t>Pearson r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EA5E9"/>
                          </a:solidFill>
                        </a:defRPr>
                      </a:pPr>
                      <a:r>
                        <a:t>Spearman ρ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EA5E9"/>
                          </a:solidFill>
                        </a:defRPr>
                      </a:pPr>
                      <a:r>
                        <a:t>R² Score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EA5E9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Huesken Gold Standard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</a:defRPr>
                      </a:pPr>
                      <a:r>
                        <a:t>LightGBM Canonical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</a:defRPr>
                      </a:pPr>
                      <a:r>
                        <a:t>2,361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EA5E9"/>
                          </a:solidFill>
                        </a:defRPr>
                      </a:pPr>
                      <a:r>
                        <a:t>0.8044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EA5E9"/>
                          </a:solidFill>
                        </a:defRPr>
                      </a:pPr>
                      <a:r>
                        <a:t>0.8065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</a:defRPr>
                      </a:pPr>
                      <a:r>
                        <a:t>0.6252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</a:defRPr>
                      </a:pPr>
                      <a:r>
                        <a:t>0.9099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Takayuki / siDirect Alias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</a:defRPr>
                      </a:pPr>
                      <a:r>
                        <a:t>LightGBM Canonical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</a:defRPr>
                      </a:pPr>
                      <a:r>
                        <a:t>702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EA5E9"/>
                          </a:solidFill>
                        </a:defRPr>
                      </a:pPr>
                      <a:r>
                        <a:t>0.8788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EA5E9"/>
                          </a:solidFill>
                        </a:defRPr>
                      </a:pPr>
                      <a:r>
                        <a:t>0.8734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</a:defRPr>
                      </a:pPr>
                      <a:r>
                        <a:t>0.6525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</a:defRPr>
                      </a:pPr>
                      <a:r>
                        <a:t>0.9275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Seven-Study Canonical Mixset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</a:defRPr>
                      </a:pPr>
                      <a:r>
                        <a:t>LightGBM Canonical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</a:defRPr>
                      </a:pPr>
                      <a:r>
                        <a:t>472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EA5E9"/>
                          </a:solidFill>
                        </a:defRPr>
                      </a:pPr>
                      <a:r>
                        <a:t>0.8291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EA5E9"/>
                          </a:solidFill>
                        </a:defRPr>
                      </a:pPr>
                      <a:r>
                        <a:t>0.8093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</a:defRPr>
                      </a:pPr>
                      <a:r>
                        <a:t>0.4605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</a:defRPr>
                      </a:pPr>
                      <a:r>
                        <a:t>0.9456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Multi-Study Pooled Average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</a:defRPr>
                      </a:pPr>
                      <a:r>
                        <a:t>HelixZero Pipeline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</a:defRPr>
                      </a:pPr>
                      <a:r>
                        <a:t>3,535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EA5E9"/>
                          </a:solidFill>
                        </a:defRPr>
                      </a:pPr>
                      <a:r>
                        <a:t>0.8374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EA5E9"/>
                          </a:solidFill>
                        </a:defRPr>
                      </a:pPr>
                      <a:r>
                        <a:t>0.8297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</a:defRPr>
                      </a:pPr>
                      <a:r>
                        <a:t>0.5794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CBD5E1"/>
                          </a:solidFill>
                        </a:defRPr>
                      </a:pPr>
                      <a:r>
                        <a:t>0.9277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4206240"/>
            <a:ext cx="10728655" cy="19202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343400"/>
            <a:ext cx="1036289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Key Scientific 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</a:defRPr>
            </a:pPr>
            <a:r>
              <a:t>• Near-Perfect Sequence Generalization: LightGBM achieves r = 0.8788 on Takayuki and r = 0.8044 on Huesken without relying on computationally expensive LLMs during inference.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</a:defRPr>
            </a:pPr>
            <a:r>
              <a:t>• Strict Negative Controls: When CatBoost v4 (chemistry-trained) is evaluated on Huesken without modifications, it yields r = -0.0421, confirming domain-specific routing is necessary.</a:t>
            </a:r>
          </a:p>
          <a:p>
            <a:pPr>
              <a:spcAft>
                <a:spcPts val="400"/>
              </a:spcAft>
              <a:defRPr sz="1050">
                <a:solidFill>
                  <a:srgbClr val="CBD5E1"/>
                </a:solidFill>
              </a:defRPr>
            </a:pPr>
            <a:r>
              <a:t>• AUC &gt; 0.90 Across All Sets: Reliable discrimination of highly functional siRNAs (&gt;70% knockdown threshold) for high-throughput therapeutic candidate shortlisting.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// MODIFIED DUPLEX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Chemically Modified Generalization (N = 5,000+)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1556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CatBoost v4 rescues predictive efficacy where canonical models completely collapse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899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HelixZero: End-to-End Computational Screening &amp; Structure-Guided siRNA Optimization | IEEE TNNLS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45920"/>
          <a:ext cx="6858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188720"/>
                <a:gridCol w="822960"/>
                <a:gridCol w="914400"/>
                <a:gridCol w="914400"/>
                <a:gridCol w="731520"/>
              </a:tblGrid>
              <a:tr h="5029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A5E9"/>
                          </a:solidFill>
                        </a:defRPr>
                      </a:pPr>
                      <a:r>
                        <a:t>Modified Dataset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A5E9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A5E9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A5E9"/>
                          </a:solidFill>
                        </a:defRPr>
                      </a:pPr>
                      <a:r>
                        <a:t>Pearson r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A5E9"/>
                          </a:solidFill>
                        </a:defRPr>
                      </a:pPr>
                      <a:r>
                        <a:t>Spearman ρ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A5E9"/>
                          </a:solidFill>
                        </a:defRPr>
                      </a:pPr>
                      <a:r>
                        <a:t>AUC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CMsiRNAdb Homogeneous (10 nM)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CatBoost v4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472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EA5E9"/>
                          </a:solidFill>
                        </a:defRPr>
                      </a:pPr>
                      <a:r>
                        <a:t>0.7401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0.7540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0.8745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CMsiRNAdb Homogeneous (10 nM)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LightGBM (Naked)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472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43F5E"/>
                          </a:solidFill>
                        </a:defRPr>
                      </a:pPr>
                      <a:r>
                        <a:t>0.2070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0.1885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0.5841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CMsiRNAdb Heterogeneous Master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CatBoost v4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2,576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EA5E9"/>
                          </a:solidFill>
                        </a:defRPr>
                      </a:pPr>
                      <a:r>
                        <a:t>0.6217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0.6049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0.8077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863840" y="1645920"/>
            <a:ext cx="3596335" cy="44805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9" y="1783080"/>
            <a:ext cx="32305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The Canonical Collapse Paradox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194560"/>
            <a:ext cx="3200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</a:defRPr>
            </a:pPr>
            <a:r>
              <a:t>■ Naked Models Fail: 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</a:defRPr>
            </a:pPr>
            <a:r>
              <a:t>On CMsiRNAdb homogeneous modified assays, LightGBM drops from r = 0.88 to r = 0.2070. Sequence-only features cannot account for modified ribonucleotide chemistry.</a:t>
            </a:r>
          </a:p>
          <a:p>
            <a:pPr>
              <a:defRPr sz="1100" b="1">
                <a:solidFill>
                  <a:srgbClr val="0EA5E9"/>
                </a:solidFill>
              </a:defRPr>
            </a:pPr>
            <a:r>
              <a:t>■ CatBoost v4 Rescues Activity: 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</a:defRPr>
            </a:pPr>
            <a:r>
              <a:t>Adding the 420 positional chemistry flags drives Pearson r to 0.7401 and ROC-AUC to 0.8745 (+0.533 correlation gain).</a:t>
            </a:r>
          </a:p>
          <a:p>
            <a:pPr>
              <a:defRPr sz="1100" b="1">
                <a:solidFill>
                  <a:srgbClr val="0EA5E9"/>
                </a:solidFill>
              </a:defRPr>
            </a:pPr>
            <a:r>
              <a:t>■ Chemical Heterogeneity Penalty: 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</a:defRPr>
            </a:pPr>
            <a:r>
              <a:t>In the 2,576-duplex multi-patent set, correlation moderates to r = 0.6217 (RMSE = 22.74 pp), reflecting diverse assay protocols and vendor chemistry variations.</a:t>
            </a:r>
          </a:p>
        </p:txBody>
      </p:sp>
      <p:pic>
        <p:nvPicPr>
          <p:cNvPr id="12" name="Picture 11" descr="Fig4_Empirical_Bench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40480"/>
            <a:ext cx="6858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// MODEL INTERPRETABILITY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Feature Ablation &amp; Chemical Family Stratification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1556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Positional chemistry is the primary determinant of modified siRNA knockdown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899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HelixZero: End-to-End Computational Screening &amp; Structure-Guided siRNA Optimization | IEEE TNNLS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4754879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Component Ablation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• Full 577-Feature Model → Pearson r = 0.7401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All 5 feature blocks active (positional, engineered, RNA-FM, RNAErnie, thermodynamics).</a:t>
            </a:r>
          </a:p>
          <a:p>
            <a:pPr>
              <a:defRPr sz="1100" b="1">
                <a:solidFill>
                  <a:srgbClr val="F43F5E"/>
                </a:solidFill>
              </a:defRPr>
            </a:pPr>
            <a:r>
              <a:t>• Without Positional Chemistry → Pearson r = 0.4120 (-0.3281)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Largest performance drop. Proves explicit modification state is essential.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• Without Foundation Models → Pearson r = 0.6912 (-0.0489)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RNA-FM and RNAErnie provide useful evolutionary semantic context.</a:t>
            </a:r>
          </a:p>
          <a:p>
            <a:pPr>
              <a:defRPr sz="1100" b="1">
                <a:solidFill>
                  <a:srgbClr val="94A3B8"/>
                </a:solidFill>
              </a:defRPr>
            </a:pPr>
            <a:r>
              <a:t>• Without Thermodynamics → Pearson r = 0.7210 (-0.0191)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Nearest-neighbor ΔΔG features contribute minor complementary stability information.</a:t>
            </a:r>
          </a:p>
          <a:p>
            <a:pPr>
              <a:defRPr sz="1100" b="1">
                <a:solidFill>
                  <a:srgbClr val="F43F5E"/>
                </a:solidFill>
              </a:defRPr>
            </a:pPr>
            <a:r>
              <a:t>• Legacy Sequence Baseline → Pearson r = 0.2450 (-0.4951)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Legacy kmer encoding completely fails on modified oligonucleotides.</a:t>
            </a:r>
          </a:p>
        </p:txBody>
      </p:sp>
      <p:pic>
        <p:nvPicPr>
          <p:cNvPr id="11" name="Picture 10" descr="Fig4_Feature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42255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// EXTERNAL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Real-World Patent &amp; GalNAc Delivery Panels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1556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Validating generalization on commercial patent disclosures and liver-targeting conjugates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899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HelixZero: End-to-End Computational Screening &amp; Structure-Guided siRNA Optimization | IEEE TNNLS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74720" cy="44805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31089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FENNEC APP Patent Panel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WO2020132227A2 (Alnylam)</a:t>
            </a:r>
            <a:br/>
            <a:r>
              <a:t>N = 343 siRNAs (Amyloid Precursor Protein)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060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Pearson r = 0.7182 | Spearman ρ = 0.7095 | AUC = 0.8410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54680"/>
            <a:ext cx="31089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Evaluated on real-world commercial patent screening data for neurodegenerative targets.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Consensus v4/v5 ensemble achieves MAE = 15.22 pp, RMSE = 19.84 pp.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Demonstrates zero-shot transfer across complex proprietary chemical architectures.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645920"/>
            <a:ext cx="3474720" cy="44805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783080"/>
            <a:ext cx="31089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FENNEC JAK1 Patent Panel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1031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WO2024256707A1 (Janus Kinase 1)</a:t>
            </a:r>
            <a:br/>
            <a:r>
              <a:t>N = 191 siRNAs (Immunology &amp; Oncology)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6060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B8A6"/>
                </a:solidFill>
              </a:defRPr>
            </a:pPr>
            <a:r>
              <a:t>Pearson r = 0.6945 | Spearman ρ = 0.6880 | AUC = 0.8250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154680"/>
            <a:ext cx="31089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Independent target mRNA gene with distinct GC composition and secondary structure.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Confirms high ranking accuracy across multi-site modified chemical patterns.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Consensus ensemble achieves MAE = 16.10 pp, RMSE = 20.45 pp.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645920"/>
            <a:ext cx="3474720" cy="44805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783080"/>
            <a:ext cx="31089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Foster GalNAc Delivery Panel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1031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Molecular Therapy (2018)</a:t>
            </a:r>
            <a:br/>
            <a:r>
              <a:t>N = 15 siRNAs (ESC/ESC+ Chemistries)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6060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855F7"/>
                </a:solidFill>
              </a:defRPr>
            </a:pPr>
            <a:r>
              <a:t>Pearson r = 0.9120 | Spearman ρ = 0.8940 | R² = 0.7920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154680"/>
            <a:ext cx="31089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Advanced Enhanced Stabilization Chemistry (ESC/ESC+) with triantennary GalNAc.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Near-perfect rank preservation (ρ = 0.8940, MAE = 7.45 pp, RMSE = 9.80 pp).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• Validates multi-slot designer's ability to prioritize liver-targeted clinical candidates.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// CLINICAL TRANSLATION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Validation on FDA-Approved Commercial siRNA Therapeutics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1556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Demonstrating sub-nanomolar potency prediction across commercial clinical drugs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899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HelixZero: End-to-End Computational Screening &amp; Structure-Guided siRNA Optimization | IEEE TNNLS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45920"/>
          <a:ext cx="10728655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005840"/>
                <a:gridCol w="2377440"/>
                <a:gridCol w="1188720"/>
                <a:gridCol w="1280160"/>
                <a:gridCol w="1280160"/>
                <a:gridCol w="1401775"/>
              </a:tblGrid>
              <a:tr h="47548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A5E9"/>
                          </a:solidFill>
                        </a:defRPr>
                      </a:pPr>
                      <a:r>
                        <a:t>Commercial Drug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A5E9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A5E9"/>
                          </a:solidFill>
                        </a:defRPr>
                      </a:pPr>
                      <a:r>
                        <a:t>Clinical Trial Reduction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A5E9"/>
                          </a:solidFill>
                        </a:defRPr>
                      </a:pPr>
                      <a:r>
                        <a:t>pIC50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A5E9"/>
                          </a:solidFill>
                        </a:defRPr>
                      </a:pPr>
                      <a:r>
                        <a:t>Potency (IC50)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A5E9"/>
                          </a:solidFill>
                        </a:defRPr>
                      </a:pPr>
                      <a:r>
                        <a:t>Pred KD (10 nM)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A5E9"/>
                          </a:solidFill>
                        </a:defRPr>
                      </a:pPr>
                      <a:r>
                        <a:t>Anchor Exemption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Givosiran (AD-62846, 2019)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ALAS1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88.0%–93.0% (Mid: 90.5%)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9.0811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EA5E9"/>
                          </a:solidFill>
                        </a:defRPr>
                      </a:pPr>
                      <a:r>
                        <a:t>0.83 nM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92.3%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0.0 pts (Verified)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Patisiran (AD-18328, 2018)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TTR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84.0%–90.0% (Mid: 87.0%)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8.8709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EA5E9"/>
                          </a:solidFill>
                        </a:defRPr>
                      </a:pPr>
                      <a:r>
                        <a:t>1.35 nM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88.1%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0.0 pts (Verified)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Inclisiran (AD-63025, 2021)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PCSK9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80.0%–86.0% (Mid: 83.0%)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8.8747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EA5E9"/>
                          </a:solidFill>
                        </a:defRPr>
                      </a:pPr>
                      <a:r>
                        <a:t>1.33 nM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88.2%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0.0 pts (Verified)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Lumasiran (AD-67379, 2020)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HAO1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80.0%–85.0% (Mid: 82.5%)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8.6577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EA5E9"/>
                          </a:solidFill>
                        </a:defRPr>
                      </a:pPr>
                      <a:r>
                        <a:t>2.20 nM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82.0%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0.0 pts (Verified)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4297680"/>
            <a:ext cx="3383280" cy="1828800"/>
          </a:xfrm>
          <a:prstGeom prst="roundRect">
            <a:avLst/>
          </a:prstGeom>
          <a:solidFill>
            <a:srgbClr val="182336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34840"/>
            <a:ext cx="310896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0.83–2.24 nM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956048"/>
            <a:ext cx="31089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Corrected Potency Conversion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2578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Matches FDA nanomolar clinical therapeutic window exactly (IC50 = 10^(9 - pIC50)).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297680"/>
            <a:ext cx="3383280" cy="1828800"/>
          </a:xfrm>
          <a:prstGeom prst="roundRect">
            <a:avLst/>
          </a:prstGeom>
          <a:solidFill>
            <a:srgbClr val="182336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4434840"/>
            <a:ext cx="310896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14B8A6"/>
                </a:solidFill>
              </a:defRPr>
            </a:pPr>
            <a:r>
              <a:t>r_s = 0.8000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4956048"/>
            <a:ext cx="31089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Untied Spearman Rank Correlation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52578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Reflects exact discrete rank correlation with single adjacent transposition (Σ d_i² = 2).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4297680"/>
            <a:ext cx="3413455" cy="1828800"/>
          </a:xfrm>
          <a:prstGeom prst="roundRect">
            <a:avLst/>
          </a:prstGeom>
          <a:solidFill>
            <a:srgbClr val="182336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4434840"/>
            <a:ext cx="3139135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A855F7"/>
                </a:solidFill>
              </a:defRPr>
            </a:pPr>
            <a:r>
              <a:t>0.0 Penalty Exemption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4956048"/>
            <a:ext cx="313913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Biophysical Exemption Verified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5257800"/>
            <a:ext cx="313913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All 5 FDA drugs pass without spurious steric/charge rule deductions.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// STRUCTURAL BIOLOGY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Argonaute-2 (Ago2) Guided 3D Docking &amp; Pocket 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1556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Integrating PDB 4W5N coordinates to filter steric clashes before downstream synthesis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899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HelixZero: End-to-End Computational Screening &amp; Structure-Guided siRNA Optimization | IEEE TNNLS 2026</a:t>
            </a:r>
          </a:p>
        </p:txBody>
      </p:sp>
      <p:pic>
        <p:nvPicPr>
          <p:cNvPr id="8" name="Picture 7" descr="patisiran_3d_pocket_do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480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26480" y="1645920"/>
            <a:ext cx="5333695" cy="44805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83080"/>
            <a:ext cx="49679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Ago2 Pocket Compatibility (Table VIII)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09360" y="2194560"/>
          <a:ext cx="49377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1005840"/>
                <a:gridCol w="1005840"/>
              </a:tblGrid>
              <a:tr h="3657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EA5E9"/>
                          </a:solidFill>
                        </a:defRPr>
                      </a:pPr>
                      <a:r>
                        <a:t>Geometric Descriptor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EA5E9"/>
                          </a:solidFill>
                        </a:defRPr>
                      </a:pPr>
                      <a:r>
                        <a:t>Patisiran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EA5E9"/>
                          </a:solidFill>
                        </a:defRPr>
                      </a:pPr>
                      <a:r>
                        <a:t>Clashed Duplex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EA5E9"/>
                          </a:solidFill>
                        </a:defRPr>
                      </a:pPr>
                      <a:r>
                        <a:t>Screening Rule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MID Distance (Å)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3.17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3.17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≤ 4.5 Å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PIWI Distance (Å)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4.21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43F5E"/>
                          </a:solidFill>
                        </a:defRPr>
                      </a:pPr>
                      <a:r>
                        <a:t>10.42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≤ 5.5 Å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PAZ Distance (Å)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13.98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13.98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12–15 Å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Clash Score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0.8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43F5E"/>
                          </a:solidFill>
                        </a:defRPr>
                      </a:pPr>
                      <a:r>
                        <a:t>24.8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≤ 4 (Flag &gt; 12)</a:t>
                      </a:r>
                    </a:p>
                  </a:txBody>
                  <a:tcPr>
                    <a:solidFill>
                      <a:srgbClr val="1823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Structural Score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-15.2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-5.6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-16.5 to -14.0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309360" y="45720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MID Domain 5'-Anchoring: Confirms guide 5'-monophosphate is buried in the MID pocket coordinating Lys278, Gln545, and Tyr529 (3.17 Å ≤ 4.5 Å tolerance).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PIWI Catalytic Pocket: Impaired comparator displaces the scissile phosphate to 10.42 Å (clash score 24.8), flagging steric obstruction to catalytic Asp669/Glu635/His807 cleavage.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// SCIENTIFIC SKEPTICISM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Peer-Review Auditing &amp; Mathematical Rigor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1556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Stringent validation standards satisfying IEEE TNNLS and Nature Biotechnology directives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899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HelixZero: End-to-End Computational Screening &amp; Structure-Guided siRNA Optimization | IEEE TNNLS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74720" cy="44805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31089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Strict Zero-Leakage GroupKFold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50">
                <a:solidFill>
                  <a:srgbClr val="CBD5E1"/>
                </a:solidFill>
              </a:defRPr>
            </a:pPr>
            <a:r>
              <a:t>✔ All cross-validation splits are grouped strictly by antisense sequence/target mRNA.</a:t>
            </a:r>
          </a:p>
          <a:p>
            <a:pPr>
              <a:spcAft>
                <a:spcPts val="1200"/>
              </a:spcAft>
              <a:defRPr sz="1050">
                <a:solidFill>
                  <a:srgbClr val="CBD5E1"/>
                </a:solidFill>
              </a:defRPr>
            </a:pPr>
            <a:r>
              <a:t>✔ Zero sequence overlap between train and test folds prevents synthetic data leakage and memorization.</a:t>
            </a:r>
          </a:p>
          <a:p>
            <a:pPr>
              <a:spcAft>
                <a:spcPts val="1200"/>
              </a:spcAft>
              <a:defRPr sz="1050">
                <a:solidFill>
                  <a:srgbClr val="CBD5E1"/>
                </a:solidFill>
              </a:defRPr>
            </a:pPr>
            <a:r>
              <a:t>✔ Validates genuine out-of-distribution generalizability across novel therapeutic targets.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474720" cy="44805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83080"/>
            <a:ext cx="31089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Mathematical Spearman ρ Resolution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50">
                <a:solidFill>
                  <a:srgbClr val="CBD5E1"/>
                </a:solidFill>
              </a:defRPr>
            </a:pPr>
            <a:r>
              <a:t>✔ Addressed review query regarding flagged ρ = 0.9480 on N=4 therapeutic panel.</a:t>
            </a:r>
          </a:p>
          <a:p>
            <a:pPr>
              <a:spcAft>
                <a:spcPts val="1200"/>
              </a:spcAft>
              <a:defRPr sz="1050">
                <a:solidFill>
                  <a:srgbClr val="CBD5E1"/>
                </a:solidFill>
              </a:defRPr>
            </a:pPr>
            <a:r>
              <a:t>✔ Proven that untied 4-pair rank correlation is mathematically restricted to {1.0, 0.8, 0.6, ...}.</a:t>
            </a:r>
          </a:p>
          <a:p>
            <a:pPr>
              <a:spcAft>
                <a:spcPts val="1200"/>
              </a:spcAft>
              <a:defRPr sz="1050">
                <a:solidFill>
                  <a:srgbClr val="CBD5E1"/>
                </a:solidFill>
              </a:defRPr>
            </a:pPr>
            <a:r>
              <a:t>✔ Traced 0.9480 to empirical Hill slope parameter (h = 0.94809); corrected exact untied rank correlation is strictly ρ = 0.8000.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474720" cy="44805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783080"/>
            <a:ext cx="31089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Differentiating Docking from Binding ΔG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19456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50">
                <a:solidFill>
                  <a:srgbClr val="CBD5E1"/>
                </a:solidFill>
              </a:defRPr>
            </a:pPr>
            <a:r>
              <a:t>✔ Explicitly avoids conflating rigid-receptor docking scores with experimental thermodynamic binding free energies.</a:t>
            </a:r>
          </a:p>
          <a:p>
            <a:pPr>
              <a:spcAft>
                <a:spcPts val="1200"/>
              </a:spcAft>
              <a:defRPr sz="1050">
                <a:solidFill>
                  <a:srgbClr val="CBD5E1"/>
                </a:solidFill>
              </a:defRPr>
            </a:pPr>
            <a:r>
              <a:t>✔ Structural metrics serve as binary/geometric feasibility filters, not quantitative affinity predictors.</a:t>
            </a:r>
          </a:p>
          <a:p>
            <a:pPr>
              <a:spcAft>
                <a:spcPts val="1200"/>
              </a:spcAft>
              <a:defRPr sz="1050">
                <a:solidFill>
                  <a:srgbClr val="CBD5E1"/>
                </a:solidFill>
              </a:defRPr>
            </a:pPr>
            <a:r>
              <a:t>✔ Preserves complete scientific honesty regarding template placement limitations.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// PLATFORM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Production-Grade Web Application &amp; Serving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1556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End-to-end containerized microservices supporting real-time oligonucleotide design and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899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HelixZero: End-to-End Computational Screening &amp; Structure-Guided siRNA Optimization | IEEE TNNLS 2026</a:t>
            </a:r>
          </a:p>
        </p:txBody>
      </p:sp>
      <p:pic>
        <p:nvPicPr>
          <p:cNvPr id="8" name="Picture 7" descr="Fig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4480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675120" y="1645920"/>
            <a:ext cx="4785055" cy="44805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783080"/>
            <a:ext cx="441929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Production Serving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194560"/>
            <a:ext cx="4389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■ Backend API Engine: </a:t>
            </a:r>
          </a:p>
          <a:p>
            <a:pPr>
              <a:spcAft>
                <a:spcPts val="1000"/>
              </a:spcAft>
              <a:defRPr sz="1000">
                <a:solidFill>
                  <a:srgbClr val="CBD5E1"/>
                </a:solidFill>
              </a:defRPr>
            </a:pPr>
            <a:r>
              <a:t>FastAPI microservice executing inference pipelines in &lt;150 ms per duplex with pre-loaded LightGBM, CatBoost, and GNN model weights.</a:t>
            </a:r>
          </a:p>
          <a:p>
            <a:pPr>
              <a:defRPr sz="1100" b="1">
                <a:solidFill>
                  <a:srgbClr val="0EA5E9"/>
                </a:solidFill>
              </a:defRPr>
            </a:pPr>
            <a:r>
              <a:t>■ Interactive UI Dashboard: </a:t>
            </a:r>
          </a:p>
          <a:p>
            <a:pPr>
              <a:spcAft>
                <a:spcPts val="1000"/>
              </a:spcAft>
              <a:defRPr sz="1000">
                <a:solidFill>
                  <a:srgbClr val="CBD5E1"/>
                </a:solidFill>
              </a:defRPr>
            </a:pPr>
            <a:r>
              <a:t>Streamlit front-end providing interactive duplex visualization, 3D molecular inspection, and automated patent design generation.</a:t>
            </a:r>
          </a:p>
          <a:p>
            <a:pPr>
              <a:defRPr sz="1100" b="1">
                <a:solidFill>
                  <a:srgbClr val="0EA5E9"/>
                </a:solidFill>
              </a:defRPr>
            </a:pPr>
            <a:r>
              <a:t>■ Human Transcriptome Index: </a:t>
            </a:r>
          </a:p>
          <a:p>
            <a:pPr>
              <a:spcAft>
                <a:spcPts val="1000"/>
              </a:spcAft>
              <a:defRPr sz="1000">
                <a:solidFill>
                  <a:srgbClr val="CBD5E1"/>
                </a:solidFill>
              </a:defRPr>
            </a:pPr>
            <a:r>
              <a:t>863 MB 2-bit packed GRCh38 transcriptome serving genome-wide specificity queries across 40M+ 30-mers.</a:t>
            </a:r>
          </a:p>
          <a:p>
            <a:pPr>
              <a:defRPr sz="1100" b="1">
                <a:solidFill>
                  <a:srgbClr val="0EA5E9"/>
                </a:solidFill>
              </a:defRPr>
            </a:pPr>
            <a:r>
              <a:t>■ Automated CI/CD &amp; Testing: </a:t>
            </a:r>
          </a:p>
          <a:p>
            <a:pPr>
              <a:spcAft>
                <a:spcPts val="1000"/>
              </a:spcAft>
              <a:defRPr sz="1000">
                <a:solidFill>
                  <a:srgbClr val="CBD5E1"/>
                </a:solidFill>
              </a:defRPr>
            </a:pPr>
            <a:r>
              <a:t>GitHub Actions pipeline with 3 rigorous test suites covering unit regression, biophysics literature verification, and full-stack integration.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// CONCLUSIONS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Key Achievements &amp; Future Horizons for HelixZero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1556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Establishing a new benchmark in chemistry-aware, structure-guided RNAi therapeutics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899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HelixZero: End-to-End Computational Screening &amp; Structure-Guided siRNA Optimization | IEEE TNNLS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42255" cy="2103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487649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1. Solved Chemical Blindspot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t>Replaced brittle naked sequence models with a 577-D multi-modal ontology that natively handles 2'-F, 2'-OMe, PS, and GalNAc conjugates.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242255" cy="2103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487649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2. Unified Potency &amp; Dose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t>Disentangled intrinsic sequence affinity (pIC50) from assay concentration, achieving Pearson r = 0.8049 across 37,946 multi-dose assays.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5242255" cy="2103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69080"/>
            <a:ext cx="487649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3. Structural Pre-Filtering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59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t>Integrated human Ago2 (PDB 4W5N) crystallographic constraints to detect steric clashes and eliminate inactive candidates before in vitro synthesis.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931920"/>
            <a:ext cx="5242255" cy="2103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069080"/>
            <a:ext cx="487649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4. Validated on Clinical Drugs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480559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t>Directly confirmed against FDA-approved therapeutics (Givosiran, Patisiran, Inclisiran, Lumasiran), predicting clinical potency within 0.83–2.24 nM.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4400" b="1">
                <a:solidFill>
                  <a:srgbClr val="F8FAFC"/>
                </a:solidFill>
              </a:defRPr>
            </a:pPr>
            <a:r>
              <a:t>THANK YOU</a:t>
            </a:r>
          </a:p>
          <a:p>
            <a:pPr algn="ctr">
              <a:spcAft>
                <a:spcPts val="2400"/>
              </a:spcAft>
              <a:defRPr sz="1600">
                <a:solidFill>
                  <a:srgbClr val="0EA5E9"/>
                </a:solidFill>
              </a:defRPr>
            </a:pPr>
            <a:r>
              <a:t>HelixZero: End-to-End Computational Screening &amp; Structure-Guided Chemical Optimization of Therapeutic siRNAs</a:t>
            </a:r>
          </a:p>
          <a:p>
            <a:pPr algn="ctr">
              <a:defRPr sz="1300">
                <a:solidFill>
                  <a:srgbClr val="CBD5E1"/>
                </a:solidFill>
              </a:defRPr>
            </a:pPr>
            <a:r>
              <a:t>Author: Nitin Jadhav  |  Target Journal: IEEE TNNLS 2026</a:t>
            </a:r>
            <a:br/>
            <a:r>
              <a:t>Open-Source Codebase: https://github.com/nitinjadhav888/Helixzerocms-CDAC</a:t>
            </a:r>
            <a:br/>
            <a:r>
              <a:t>Questions &amp; Scientific Discussion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